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RONIN: Good [morning/afternoon]. We're Productivity Masters, and this is Stake, a social accountability app where you literally put something on the line for your goals. Over the next fifteen minutes we'll walk you through the problem, our solution, how we'll build it, the risks we're planning for, and exactly what we're committing to in Sprint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RONIN: I'm Ronin, the Product Owner. I own the vision and the backlog, and I decide what gets built first. Miguel is our Development Team Lead; he owns the architecture and code quality. Connor is our Scrum Master; he runs our sprint ceremonies and keeps the Jira board honest. All three of us are developers, so the roles are about who owns each decision, not who writes code. I'll cover the product, Miguel will cover the design, and Connor will cover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RONIN: Here's the problem. Almost every productivity app depends on self-discipline. They send reminders, track streaks, show charts, but all of it is private and all of it is optional. If you swipe away the reminder, nothing happens. If you break your streak, nobody knows. We think that's why so many people download a habit tracker in January and stop opening it by February. The missing ingredient isn't information, it's consequences and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RONIN: Stake adds real consequences. First, you set a goal, like going to the gym three times a week, with a daily deadline. Second, before the goal starts, you upload an embarrassing photo of yourself as your stake. It follows our content guidelines, it stays hidden, and you can't delete it while the goal is active. Third, you prove you did it by checking in with a photo before the deadline. Friends see check-ins and can flag ones that look fake. Fourth, if you miss, the app automatically posts your stake to your friends' feed. Then you can upload a new stake and keep 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RONIN: So how does this answer the challenge statement? [Tie to the exact wording of your challenge statement here.] Compare Stake to a typical habit app like Habitify. Those apps motivate you with reminders; we motivate you with social pressure and a personal stake. In those apps only you see your progress; in Stake your friends see it on your feed and your calendar. Skipping costs you nothing there; here your stake photo gets posted. And instead of tapping a checkbox, you prove it with a timestamped photo your friends can flag. That's our vision: accountability you can't swipe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RONIN: Our backlog grows out of four user stories. A young adult wants accountability at the gym; for them, done means a missed check-in actually posts their stake. An athlete wants to see their own progress and their friends' milestones, so the feed has to show goals met and failed. A student wants to stop procrastinating, and the first thing they need is to register, log in, and set a goal. And an admin wants the platform to be safe, so they need to review reports, remove images, and ban users who break the rules. We mapped these into three releases, which Connor will show in the backlog. Now Miguel will walk through how we'll 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MIGUEL: Thanks, Ronin. We're building on the PERN stack. React on the frontend, because Stake is full of repeated pieces like photo cards, calendars and feed items, and components let us build those once. Node and Express on the backend, which means the whole team works in one language, JavaScript, and every client goes through one API that enforces authorization and deadline rules. PostgreSQL for the database, because our data is relational: users, goals, check-ins, friendships. Its transactions matter a lot for us, because releasing a stake has to happen exactly once. We coordinate with GitHub for version control and pull request reviews, and Jira for our backlog and sprints. Libraries we're planning on include React Router, node-postgres, bcrypt for password hashing, Multer for photo uploads, node-cron for our deadline job, and Jest for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MIGUEL: For architecture we chose a layered client-server pattern. At the top, React runs in each user's browser and talks to our backend over HTTPS. The backend is a single Node and Express application, what's called a modular monolith. Requests come into a handling layer that checks sessions, authorization and input. Then they go to one of our modules: accounts, goals and check-ins, or social and moderation. There's also an internal deadline job, which runs on a timer instead of a browser request. All modules go through a data access layer to reach PostgreSQL and private photo storage. Why this design? The layers separate concerns, every client shares one set of rules and one database, and one backend is the right size for a three-person team. We don't need microservices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MIGUEL: The riskiest part of Stake is the moment a deadline passes, so we designed it carefully. An internal scheduled job wakes up on a timer. It finds every goal window whose cutoff has passed; all cutoffs are stored in UTC along with the goal's time zone. It rechecks the committed check-ins against how many the goal requires. If the goal was met, that day is marked complete on the calendar. If it was missed, the stake is released and the feed post is created in a single database transaction, and a unique constraint guarantees a window can only release once. If the server restarts, it rechecks due windows, so nothing gets skipped. Connor will now cover how we manage risk and plan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CONNOR: Thanks, Miguel. Here's our risk management plan. The biggest business risk is someone uploading an inappropriate stake photo. It's likely, and serious, so admins review stakes before goals start, users can report content, and admins can remove it and ban users. Fake check-in photos are also likely but tolerable; friends see check-ins on the feed and can flag them for an admin. A stake released by mistake because of a time-zone bug is moderate probability but serious, so we store every deadline in UTC and test the edge cases. A stake photo leaking early is low probability but serious, so photos live in private storage behind authorization checks. And the project risk is scope: three people, so we ship Release 1 first and re-estimate every sprint.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CONNOR: This is our product backlog, estimated with planning poker. Each of us voted with Fibonacci cards at the same time. When votes were far apart, the highest and lowest voters explained their thinking, and we re-voted until we agreed. For example, auto-releasing a stake came in at 13, our biggest item, because it involves the scheduler, time zones and a transaction. Something like reporting a photo is a 3. Release 1 is the core loop: accounts, goals, stakes, check-ins, friends and the feed, 36 points. Release 2 adds the consequences and safety: auto-release, reporting, admin review, reminders and the calendar, 37 points. That's 73 points total. [Update points to match your team's actual votes.]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CONNOR: Here's Sprint 1 broken into tasks. We start with six hours of setup: the repo, the PERN scaffold and our database schema. Then the six Release 1 items, split between the three of us: Connor on auth and friends, Ronin on goals and check-ins, Miguel on setup, stake upload and the feed. That adds up to 64 planned hours. Our sprint goal is simple: by the end of Sprint 1, a user can sign up, create a goal, stake a photo, check in, and see their friends' check-ins. [Confirm owners and hours with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CONNOR: So does Sprint 1 fit? Velocity is how much work we need to do per sprint: 73 total backlog points divided by two sprints gives 36.5 points per sprint. Capacity is how much work we can actually do: three members, times eight hours a week, times three weeks, is 72 hours. We're committing 36 points, which matches our velocity, and 64 planned hours, which leaves an eight-hour buffer for bugs, code review and surprises.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CONNOR: To wrap up, a few open issues. We haven't picked a photo storage provider yet. We still need to agree on grace periods and late uploads. We need to watch how much work reviewing every stake puts on admins. And our estimates are first-pass, so we'll re-vote after Sprint 1 using real data. Next steps: finalize the Sprint 1 tasks in Jira, scaffold the repo and schema in week one, and demo the core goal loop at the end of Sprint 1. Sprint 2 brings auto-release, reporting and admin review, and after that, goal resets, account management and progress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(Ronin leads): That's Stake. Most apps ask you to hold yourself accountable; Stake makes your friends part of it. Thank you, and we're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92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A4D"/>
                </a:solidFill>
                <a:latin typeface="DM Sans" pitchFamily="34" charset="0"/>
                <a:ea typeface="DM Sans" pitchFamily="34" charset="-122"/>
                <a:cs typeface="DM Sans" pitchFamily="34" charset="-120"/>
              </a:rPr>
              <a:t>CEN3031 · SPRINT 0 · PROJECT DESIGN &amp; PLAN</a:t>
            </a:r>
            <a:endParaRPr lang="en-US" sz="1200" dirty="0"/>
          </a:p>
        </p:txBody>
      </p:sp>
      <p:sp>
        <p:nvSpPr>
          <p:cNvPr id="3" name="Text 1"/>
          <p:cNvSpPr/>
          <p:nvPr/>
        </p:nvSpPr>
        <p:spPr>
          <a:xfrm>
            <a:off x="812800" y="2195830"/>
            <a:ext cx="10883392" cy="1422400"/>
          </a:xfrm>
          <a:prstGeom prst="rect">
            <a:avLst/>
          </a:prstGeom>
          <a:noFill/>
          <a:ln/>
        </p:spPr>
        <p:txBody>
          <a:bodyPr wrap="square" lIns="0" tIns="0" rIns="0" bIns="0" rtlCol="0" anchor="t">
            <a:normAutofit/>
          </a:bodyPr>
          <a:lstStyle/>
          <a:p>
            <a:pPr algn="l" indent="0" marL="0">
              <a:lnSpc>
                <a:spcPts val="11000"/>
              </a:lnSpc>
              <a:buNone/>
            </a:pPr>
            <a:r>
              <a:rPr lang="en-US" sz="11000" b="1" spc="-300" kern="0" dirty="0">
                <a:solidFill>
                  <a:srgbClr val="F3EFE8"/>
                </a:solidFill>
                <a:latin typeface="Space Grotesk" pitchFamily="34" charset="0"/>
                <a:ea typeface="Space Grotesk" pitchFamily="34" charset="-122"/>
                <a:cs typeface="Space Grotesk" pitchFamily="34" charset="-120"/>
              </a:rPr>
              <a:t>Stake</a:t>
            </a:r>
            <a:r>
              <a:rPr lang="en-US" sz="11000" b="1" spc="-300" kern="0" dirty="0">
                <a:solidFill>
                  <a:srgbClr val="FF7A4D"/>
                </a:solidFill>
                <a:latin typeface="Space Grotesk" pitchFamily="34" charset="0"/>
                <a:ea typeface="Space Grotesk" pitchFamily="34" charset="-122"/>
                <a:cs typeface="Space Grotesk" pitchFamily="34" charset="-120"/>
              </a:rPr>
              <a:t>.</a:t>
            </a:r>
            <a:endParaRPr lang="en-US" sz="11000" dirty="0"/>
          </a:p>
        </p:txBody>
      </p:sp>
      <p:sp>
        <p:nvSpPr>
          <p:cNvPr id="4" name="Text 2"/>
          <p:cNvSpPr/>
          <p:nvPr/>
        </p:nvSpPr>
        <p:spPr>
          <a:xfrm>
            <a:off x="812800" y="3745230"/>
            <a:ext cx="10883392" cy="452120"/>
          </a:xfrm>
          <a:prstGeom prst="rect">
            <a:avLst/>
          </a:prstGeom>
          <a:noFill/>
          <a:ln/>
        </p:spPr>
        <p:txBody>
          <a:bodyPr wrap="square" lIns="0" tIns="0" rIns="0" bIns="0" rtlCol="0" anchor="t">
            <a:normAutofit/>
          </a:bodyPr>
          <a:lstStyle/>
          <a:p>
            <a:pPr algn="l" indent="0" marL="0">
              <a:lnSpc>
                <a:spcPts val="3360"/>
              </a:lnSpc>
              <a:buNone/>
            </a:pPr>
            <a:r>
              <a:rPr lang="en-US" sz="2800" dirty="0">
                <a:solidFill>
                  <a:srgbClr val="F3EFE8"/>
                </a:solidFill>
                <a:latin typeface="Space Grotesk" pitchFamily="34" charset="0"/>
                <a:ea typeface="Space Grotesk" pitchFamily="34" charset="-122"/>
                <a:cs typeface="Space Grotesk" pitchFamily="34" charset="-120"/>
              </a:rPr>
              <a:t>Put something on the line.</a:t>
            </a:r>
            <a:endParaRPr lang="en-US" sz="2800" dirty="0"/>
          </a:p>
        </p:txBody>
      </p:sp>
      <p:sp>
        <p:nvSpPr>
          <p:cNvPr id="5" name="Text 3"/>
          <p:cNvSpPr/>
          <p:nvPr/>
        </p:nvSpPr>
        <p:spPr>
          <a:xfrm>
            <a:off x="812800" y="432435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BDC8"/>
                </a:solidFill>
                <a:latin typeface="DM Sans" pitchFamily="34" charset="0"/>
                <a:ea typeface="DM Sans" pitchFamily="34" charset="-122"/>
                <a:cs typeface="DM Sans" pitchFamily="34" charset="-120"/>
              </a:rPr>
              <a:t>A social accountability app that turns goals into promises your friends can see.</a:t>
            </a:r>
            <a:endParaRPr lang="en-US" sz="1600" dirty="0"/>
          </a:p>
        </p:txBody>
      </p:sp>
      <p:sp>
        <p:nvSpPr>
          <p:cNvPr id="6" name="Text 4"/>
          <p:cNvSpPr/>
          <p:nvPr/>
        </p:nvSpPr>
        <p:spPr>
          <a:xfrm>
            <a:off x="812800" y="5778500"/>
            <a:ext cx="201463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BDC8"/>
                </a:solidFill>
                <a:latin typeface="DM Sans" pitchFamily="34" charset="0"/>
                <a:ea typeface="DM Sans" pitchFamily="34" charset="-122"/>
                <a:cs typeface="DM Sans" pitchFamily="34" charset="-120"/>
              </a:rPr>
              <a:t>Productivity Masters</a:t>
            </a:r>
            <a:endParaRPr lang="en-US" sz="1500" dirty="0"/>
          </a:p>
        </p:txBody>
      </p:sp>
      <p:sp>
        <p:nvSpPr>
          <p:cNvPr id="7" name="Text 5"/>
          <p:cNvSpPr/>
          <p:nvPr/>
        </p:nvSpPr>
        <p:spPr>
          <a:xfrm>
            <a:off x="3175159" y="5778500"/>
            <a:ext cx="431182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BDC8"/>
                </a:solidFill>
                <a:latin typeface="DM Sans" pitchFamily="34" charset="0"/>
                <a:ea typeface="DM Sans" pitchFamily="34" charset="-122"/>
                <a:cs typeface="DM Sans" pitchFamily="34" charset="-120"/>
              </a:rPr>
              <a:t>Ronin Mithaug · Connor Opdyke · Miguel Rosario</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31E"/>
                </a:solidFill>
                <a:latin typeface="DM Sans" pitchFamily="34" charset="0"/>
                <a:ea typeface="DM Sans" pitchFamily="34" charset="-122"/>
                <a:cs typeface="DM Sans" pitchFamily="34" charset="-120"/>
              </a:rPr>
              <a:t>THE TEAM</a:t>
            </a:r>
            <a:endParaRPr lang="en-US" sz="1200" dirty="0"/>
          </a:p>
        </p:txBody>
      </p:sp>
      <p:sp>
        <p:nvSpPr>
          <p:cNvPr id="3" name="Text 1"/>
          <p:cNvSpPr/>
          <p:nvPr/>
        </p:nvSpPr>
        <p:spPr>
          <a:xfrm>
            <a:off x="812800" y="11023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1A23"/>
                </a:solidFill>
                <a:latin typeface="Space Grotesk" pitchFamily="34" charset="0"/>
                <a:ea typeface="Space Grotesk" pitchFamily="34" charset="-122"/>
                <a:cs typeface="Space Grotesk" pitchFamily="34" charset="-120"/>
              </a:rPr>
              <a:t>Three roles, one product</a:t>
            </a:r>
            <a:endParaRPr lang="en-US" sz="3200" dirty="0"/>
          </a:p>
        </p:txBody>
      </p:sp>
      <p:sp>
        <p:nvSpPr>
          <p:cNvPr id="4" name="Shape 2"/>
          <p:cNvSpPr/>
          <p:nvPr/>
        </p:nvSpPr>
        <p:spPr>
          <a:xfrm>
            <a:off x="815975" y="1806575"/>
            <a:ext cx="3380303" cy="3547110"/>
          </a:xfrm>
          <a:prstGeom prst="roundRect">
            <a:avLst>
              <a:gd name="adj" fmla="val 3663"/>
            </a:avLst>
          </a:prstGeom>
          <a:solidFill>
            <a:srgbClr val="FFFDFA"/>
          </a:solidFill>
          <a:ln w="6350">
            <a:solidFill>
              <a:srgbClr val="E2DBCF"/>
            </a:solidFill>
            <a:prstDash val="solid"/>
          </a:ln>
        </p:spPr>
      </p:sp>
      <p:sp>
        <p:nvSpPr>
          <p:cNvPr id="5" name="Text 3"/>
          <p:cNvSpPr/>
          <p:nvPr/>
        </p:nvSpPr>
        <p:spPr>
          <a:xfrm>
            <a:off x="1021080" y="2011680"/>
            <a:ext cx="3059196"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1A23"/>
                </a:solidFill>
                <a:latin typeface="Space Grotesk" pitchFamily="34" charset="0"/>
                <a:ea typeface="Space Grotesk" pitchFamily="34" charset="-122"/>
                <a:cs typeface="Space Grotesk" pitchFamily="34" charset="-120"/>
              </a:rPr>
              <a:t>Ronin Mithaug</a:t>
            </a:r>
            <a:endParaRPr lang="en-US" sz="2200" dirty="0"/>
          </a:p>
        </p:txBody>
      </p:sp>
      <p:sp>
        <p:nvSpPr>
          <p:cNvPr id="6" name="Text 4"/>
          <p:cNvSpPr/>
          <p:nvPr/>
        </p:nvSpPr>
        <p:spPr>
          <a:xfrm>
            <a:off x="1021080" y="2423160"/>
            <a:ext cx="305919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8431E"/>
                </a:solidFill>
                <a:latin typeface="DM Sans" pitchFamily="34" charset="0"/>
                <a:ea typeface="DM Sans" pitchFamily="34" charset="-122"/>
                <a:cs typeface="DM Sans" pitchFamily="34" charset="-120"/>
              </a:rPr>
              <a:t>Product Owner</a:t>
            </a:r>
            <a:endParaRPr lang="en-US" sz="1500" dirty="0"/>
          </a:p>
        </p:txBody>
      </p:sp>
      <p:sp>
        <p:nvSpPr>
          <p:cNvPr id="7" name="Text 5"/>
          <p:cNvSpPr/>
          <p:nvPr/>
        </p:nvSpPr>
        <p:spPr>
          <a:xfrm>
            <a:off x="1112774" y="2766060"/>
            <a:ext cx="2959882" cy="743585"/>
          </a:xfrm>
          <a:prstGeom prst="rect">
            <a:avLst/>
          </a:prstGeom>
          <a:noFill/>
          <a:ln/>
        </p:spPr>
        <p:txBody>
          <a:bodyPr wrap="square" lIns="0" tIns="0" rIns="0" bIns="0" rtlCol="0" anchor="t">
            <a:normAutofit/>
          </a:bodyPr>
          <a:lstStyle/>
          <a:p>
            <a:pPr algn="l" marL="162306" indent="-162306">
              <a:lnSpc>
                <a:spcPts val="1885"/>
              </a:lnSpc>
              <a:buSzPct val="100000"/>
              <a:buChar char="•"/>
            </a:pPr>
            <a:r>
              <a:rPr lang="en-US" sz="1300" dirty="0">
                <a:solidFill>
                  <a:srgbClr val="4A4F5C"/>
                </a:solidFill>
                <a:latin typeface="DM Sans" pitchFamily="34" charset="0"/>
                <a:ea typeface="DM Sans" pitchFamily="34" charset="-122"/>
                <a:cs typeface="DM Sans" pitchFamily="34" charset="-120"/>
              </a:rPr>
              <a:t>Owns product vision</a:t>
            </a:r>
            <a:endParaRPr lang="en-US" sz="1300" dirty="0"/>
          </a:p>
          <a:p>
            <a:pPr algn="l" marL="162306" indent="-162306">
              <a:lnSpc>
                <a:spcPts val="1885"/>
              </a:lnSpc>
              <a:buSzPct val="100000"/>
              <a:buChar char="•"/>
            </a:pPr>
            <a:r>
              <a:rPr lang="en-US" sz="1300" dirty="0">
                <a:solidFill>
                  <a:srgbClr val="4A4F5C"/>
                </a:solidFill>
                <a:latin typeface="DM Sans" pitchFamily="34" charset="0"/>
                <a:ea typeface="DM Sans" pitchFamily="34" charset="-122"/>
                <a:cs typeface="DM Sans" pitchFamily="34" charset="-120"/>
              </a:rPr>
              <a:t>Prioritizes the backlog</a:t>
            </a:r>
            <a:endParaRPr lang="en-US" sz="1300" dirty="0"/>
          </a:p>
          <a:p>
            <a:pPr algn="l" marL="162306" indent="-162306">
              <a:lnSpc>
                <a:spcPts val="1885"/>
              </a:lnSpc>
              <a:buSzPct val="100000"/>
              <a:buChar char="•"/>
            </a:pPr>
            <a:r>
              <a:rPr lang="en-US" sz="1300" dirty="0">
                <a:solidFill>
                  <a:srgbClr val="4A4F5C"/>
                </a:solidFill>
                <a:latin typeface="DM Sans" pitchFamily="34" charset="0"/>
                <a:ea typeface="DM Sans" pitchFamily="34" charset="-122"/>
                <a:cs typeface="DM Sans" pitchFamily="34" charset="-120"/>
              </a:rPr>
              <a:t>Accepts finished stories</a:t>
            </a:r>
            <a:endParaRPr lang="en-US" sz="1300" dirty="0"/>
          </a:p>
        </p:txBody>
      </p:sp>
      <p:sp>
        <p:nvSpPr>
          <p:cNvPr id="8" name="Text 6"/>
          <p:cNvSpPr/>
          <p:nvPr/>
        </p:nvSpPr>
        <p:spPr>
          <a:xfrm>
            <a:off x="1021080" y="4594860"/>
            <a:ext cx="2970094" cy="553720"/>
          </a:xfrm>
          <a:prstGeom prst="roundRect">
            <a:avLst>
              <a:gd name="adj" fmla="val 13761"/>
            </a:avLst>
          </a:prstGeom>
          <a:solidFill>
            <a:srgbClr val="EFE9DF"/>
          </a:solidFill>
          <a:ln/>
        </p:spPr>
        <p:txBody>
          <a:bodyPr wrap="square" lIns="91982" tIns="41182" rIns="9737" bIns="15782" rtlCol="0" anchor="t">
            <a:normAutofit/>
          </a:bodyPr>
          <a:lstStyle/>
          <a:p>
            <a:pPr algn="l" indent="0" marL="0">
              <a:lnSpc>
                <a:spcPts val="1680"/>
              </a:lnSpc>
              <a:buNone/>
            </a:pPr>
            <a:r>
              <a:rPr lang="en-US" sz="1200" dirty="0">
                <a:solidFill>
                  <a:srgbClr val="161A23"/>
                </a:solidFill>
                <a:latin typeface="DM Sans" pitchFamily="34" charset="0"/>
                <a:ea typeface="DM Sans" pitchFamily="34" charset="-122"/>
                <a:cs typeface="DM Sans" pitchFamily="34" charset="-120"/>
              </a:rPr>
              <a:t>Presents: problem, solution, user stories</a:t>
            </a:r>
            <a:endParaRPr lang="en-US" sz="1200" dirty="0"/>
          </a:p>
        </p:txBody>
      </p:sp>
      <p:sp>
        <p:nvSpPr>
          <p:cNvPr id="9" name="Shape 7"/>
          <p:cNvSpPr/>
          <p:nvPr/>
        </p:nvSpPr>
        <p:spPr>
          <a:xfrm>
            <a:off x="4405828" y="1806575"/>
            <a:ext cx="3380343" cy="3547110"/>
          </a:xfrm>
          <a:prstGeom prst="roundRect">
            <a:avLst>
              <a:gd name="adj" fmla="val 3663"/>
            </a:avLst>
          </a:prstGeom>
          <a:solidFill>
            <a:srgbClr val="FFFDFA"/>
          </a:solidFill>
          <a:ln w="6350">
            <a:solidFill>
              <a:srgbClr val="E2DBCF"/>
            </a:solidFill>
            <a:prstDash val="solid"/>
          </a:ln>
        </p:spPr>
      </p:sp>
      <p:sp>
        <p:nvSpPr>
          <p:cNvPr id="10" name="Text 8"/>
          <p:cNvSpPr/>
          <p:nvPr/>
        </p:nvSpPr>
        <p:spPr>
          <a:xfrm>
            <a:off x="4610934" y="2011680"/>
            <a:ext cx="3059237"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1A23"/>
                </a:solidFill>
                <a:latin typeface="Space Grotesk" pitchFamily="34" charset="0"/>
                <a:ea typeface="Space Grotesk" pitchFamily="34" charset="-122"/>
                <a:cs typeface="Space Grotesk" pitchFamily="34" charset="-120"/>
              </a:rPr>
              <a:t>Miguel Rosario</a:t>
            </a:r>
            <a:endParaRPr lang="en-US" sz="2200" dirty="0"/>
          </a:p>
        </p:txBody>
      </p:sp>
      <p:sp>
        <p:nvSpPr>
          <p:cNvPr id="11" name="Text 9"/>
          <p:cNvSpPr/>
          <p:nvPr/>
        </p:nvSpPr>
        <p:spPr>
          <a:xfrm>
            <a:off x="4610934" y="2423160"/>
            <a:ext cx="305923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8431E"/>
                </a:solidFill>
                <a:latin typeface="DM Sans" pitchFamily="34" charset="0"/>
                <a:ea typeface="DM Sans" pitchFamily="34" charset="-122"/>
                <a:cs typeface="DM Sans" pitchFamily="34" charset="-120"/>
              </a:rPr>
              <a:t>Development Team Lead</a:t>
            </a:r>
            <a:endParaRPr lang="en-US" sz="1500" dirty="0"/>
          </a:p>
        </p:txBody>
      </p:sp>
      <p:sp>
        <p:nvSpPr>
          <p:cNvPr id="12" name="Text 10"/>
          <p:cNvSpPr/>
          <p:nvPr/>
        </p:nvSpPr>
        <p:spPr>
          <a:xfrm>
            <a:off x="4702628" y="2766060"/>
            <a:ext cx="2959923" cy="743585"/>
          </a:xfrm>
          <a:prstGeom prst="rect">
            <a:avLst/>
          </a:prstGeom>
          <a:noFill/>
          <a:ln/>
        </p:spPr>
        <p:txBody>
          <a:bodyPr wrap="square" lIns="0" tIns="0" rIns="0" bIns="0" rtlCol="0" anchor="t">
            <a:normAutofit/>
          </a:bodyPr>
          <a:lstStyle/>
          <a:p>
            <a:pPr algn="l" marL="162306" indent="-162306">
              <a:lnSpc>
                <a:spcPts val="1885"/>
              </a:lnSpc>
              <a:buSzPct val="100000"/>
              <a:buChar char="•"/>
            </a:pPr>
            <a:r>
              <a:rPr lang="en-US" sz="1300" dirty="0">
                <a:solidFill>
                  <a:srgbClr val="4A4F5C"/>
                </a:solidFill>
                <a:latin typeface="DM Sans" pitchFamily="34" charset="0"/>
                <a:ea typeface="DM Sans" pitchFamily="34" charset="-122"/>
                <a:cs typeface="DM Sans" pitchFamily="34" charset="-120"/>
              </a:rPr>
              <a:t>Owns architecture</a:t>
            </a:r>
            <a:endParaRPr lang="en-US" sz="1300" dirty="0"/>
          </a:p>
          <a:p>
            <a:pPr algn="l" marL="162306" indent="-162306">
              <a:lnSpc>
                <a:spcPts val="1885"/>
              </a:lnSpc>
              <a:buSzPct val="100000"/>
              <a:buChar char="•"/>
            </a:pPr>
            <a:r>
              <a:rPr lang="en-US" sz="1300" dirty="0">
                <a:solidFill>
                  <a:srgbClr val="4A4F5C"/>
                </a:solidFill>
                <a:latin typeface="DM Sans" pitchFamily="34" charset="0"/>
                <a:ea typeface="DM Sans" pitchFamily="34" charset="-122"/>
                <a:cs typeface="DM Sans" pitchFamily="34" charset="-120"/>
              </a:rPr>
              <a:t>Sets up the PERN stack</a:t>
            </a:r>
            <a:endParaRPr lang="en-US" sz="1300" dirty="0"/>
          </a:p>
          <a:p>
            <a:pPr algn="l" marL="162306" indent="-162306">
              <a:lnSpc>
                <a:spcPts val="1885"/>
              </a:lnSpc>
              <a:buSzPct val="100000"/>
              <a:buChar char="•"/>
            </a:pPr>
            <a:r>
              <a:rPr lang="en-US" sz="1300" dirty="0">
                <a:solidFill>
                  <a:srgbClr val="4A4F5C"/>
                </a:solidFill>
                <a:latin typeface="DM Sans" pitchFamily="34" charset="0"/>
                <a:ea typeface="DM Sans" pitchFamily="34" charset="-122"/>
                <a:cs typeface="DM Sans" pitchFamily="34" charset="-120"/>
              </a:rPr>
              <a:t>Reviews pull requests</a:t>
            </a:r>
            <a:endParaRPr lang="en-US" sz="1300" dirty="0"/>
          </a:p>
        </p:txBody>
      </p:sp>
      <p:sp>
        <p:nvSpPr>
          <p:cNvPr id="13" name="Text 11"/>
          <p:cNvSpPr/>
          <p:nvPr/>
        </p:nvSpPr>
        <p:spPr>
          <a:xfrm>
            <a:off x="4610934" y="4808220"/>
            <a:ext cx="2970133" cy="340360"/>
          </a:xfrm>
          <a:prstGeom prst="roundRect">
            <a:avLst>
              <a:gd name="adj" fmla="val 22388"/>
            </a:avLst>
          </a:prstGeom>
          <a:solidFill>
            <a:srgbClr val="EFE9DF"/>
          </a:solidFill>
          <a:ln/>
        </p:spPr>
        <p:txBody>
          <a:bodyPr wrap="square" lIns="91982" tIns="41182" rIns="9736" bIns="15782" rtlCol="0" anchor="t">
            <a:normAutofit/>
          </a:bodyPr>
          <a:lstStyle/>
          <a:p>
            <a:pPr algn="l" indent="0" marL="0">
              <a:lnSpc>
                <a:spcPts val="1680"/>
              </a:lnSpc>
              <a:buNone/>
            </a:pPr>
            <a:r>
              <a:rPr lang="en-US" sz="1200" dirty="0">
                <a:solidFill>
                  <a:srgbClr val="161A23"/>
                </a:solidFill>
                <a:latin typeface="DM Sans" pitchFamily="34" charset="0"/>
                <a:ea typeface="DM Sans" pitchFamily="34" charset="-122"/>
                <a:cs typeface="DM Sans" pitchFamily="34" charset="-120"/>
              </a:rPr>
              <a:t>Presents: tech stack, architecture</a:t>
            </a:r>
            <a:endParaRPr lang="en-US" sz="1200" dirty="0"/>
          </a:p>
        </p:txBody>
      </p:sp>
      <p:sp>
        <p:nvSpPr>
          <p:cNvPr id="14" name="Shape 12"/>
          <p:cNvSpPr/>
          <p:nvPr/>
        </p:nvSpPr>
        <p:spPr>
          <a:xfrm>
            <a:off x="7995722" y="1806575"/>
            <a:ext cx="3380303" cy="3547110"/>
          </a:xfrm>
          <a:prstGeom prst="roundRect">
            <a:avLst>
              <a:gd name="adj" fmla="val 3663"/>
            </a:avLst>
          </a:prstGeom>
          <a:solidFill>
            <a:srgbClr val="FFFDFA"/>
          </a:solidFill>
          <a:ln w="6350">
            <a:solidFill>
              <a:srgbClr val="E2DBCF"/>
            </a:solidFill>
            <a:prstDash val="solid"/>
          </a:ln>
        </p:spPr>
      </p:sp>
      <p:sp>
        <p:nvSpPr>
          <p:cNvPr id="15" name="Text 13"/>
          <p:cNvSpPr/>
          <p:nvPr/>
        </p:nvSpPr>
        <p:spPr>
          <a:xfrm>
            <a:off x="8200827" y="2011680"/>
            <a:ext cx="3059196"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1A23"/>
                </a:solidFill>
                <a:latin typeface="Space Grotesk" pitchFamily="34" charset="0"/>
                <a:ea typeface="Space Grotesk" pitchFamily="34" charset="-122"/>
                <a:cs typeface="Space Grotesk" pitchFamily="34" charset="-120"/>
              </a:rPr>
              <a:t>Connor Opdyke</a:t>
            </a:r>
            <a:endParaRPr lang="en-US" sz="2200" dirty="0"/>
          </a:p>
        </p:txBody>
      </p:sp>
      <p:sp>
        <p:nvSpPr>
          <p:cNvPr id="16" name="Text 14"/>
          <p:cNvSpPr/>
          <p:nvPr/>
        </p:nvSpPr>
        <p:spPr>
          <a:xfrm>
            <a:off x="8200827" y="2423160"/>
            <a:ext cx="305919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8431E"/>
                </a:solidFill>
                <a:latin typeface="DM Sans" pitchFamily="34" charset="0"/>
                <a:ea typeface="DM Sans" pitchFamily="34" charset="-122"/>
                <a:cs typeface="DM Sans" pitchFamily="34" charset="-120"/>
              </a:rPr>
              <a:t>Scrum Master</a:t>
            </a:r>
            <a:endParaRPr lang="en-US" sz="1500" dirty="0"/>
          </a:p>
        </p:txBody>
      </p:sp>
      <p:sp>
        <p:nvSpPr>
          <p:cNvPr id="17" name="Text 15"/>
          <p:cNvSpPr/>
          <p:nvPr/>
        </p:nvSpPr>
        <p:spPr>
          <a:xfrm>
            <a:off x="8292521" y="2766060"/>
            <a:ext cx="2959882" cy="743585"/>
          </a:xfrm>
          <a:prstGeom prst="rect">
            <a:avLst/>
          </a:prstGeom>
          <a:noFill/>
          <a:ln/>
        </p:spPr>
        <p:txBody>
          <a:bodyPr wrap="square" lIns="0" tIns="0" rIns="0" bIns="0" rtlCol="0" anchor="t">
            <a:normAutofit/>
          </a:bodyPr>
          <a:lstStyle/>
          <a:p>
            <a:pPr algn="l" marL="162306" indent="-162306">
              <a:lnSpc>
                <a:spcPts val="1885"/>
              </a:lnSpc>
              <a:buSzPct val="100000"/>
              <a:buChar char="•"/>
            </a:pPr>
            <a:r>
              <a:rPr lang="en-US" sz="1300" dirty="0">
                <a:solidFill>
                  <a:srgbClr val="4A4F5C"/>
                </a:solidFill>
                <a:latin typeface="DM Sans" pitchFamily="34" charset="0"/>
                <a:ea typeface="DM Sans" pitchFamily="34" charset="-122"/>
                <a:cs typeface="DM Sans" pitchFamily="34" charset="-120"/>
              </a:rPr>
              <a:t>Runs planning &amp; standups</a:t>
            </a:r>
            <a:endParaRPr lang="en-US" sz="1300" dirty="0"/>
          </a:p>
          <a:p>
            <a:pPr algn="l" marL="162306" indent="-162306">
              <a:lnSpc>
                <a:spcPts val="1885"/>
              </a:lnSpc>
              <a:buSzPct val="100000"/>
              <a:buChar char="•"/>
            </a:pPr>
            <a:r>
              <a:rPr lang="en-US" sz="1300" dirty="0">
                <a:solidFill>
                  <a:srgbClr val="4A4F5C"/>
                </a:solidFill>
                <a:latin typeface="DM Sans" pitchFamily="34" charset="0"/>
                <a:ea typeface="DM Sans" pitchFamily="34" charset="-122"/>
                <a:cs typeface="DM Sans" pitchFamily="34" charset="-120"/>
              </a:rPr>
              <a:t>Keeps the Jira board current</a:t>
            </a:r>
            <a:endParaRPr lang="en-US" sz="1300" dirty="0"/>
          </a:p>
          <a:p>
            <a:pPr algn="l" marL="162306" indent="-162306">
              <a:lnSpc>
                <a:spcPts val="1885"/>
              </a:lnSpc>
              <a:buSzPct val="100000"/>
              <a:buChar char="•"/>
            </a:pPr>
            <a:r>
              <a:rPr lang="en-US" sz="1300" dirty="0">
                <a:solidFill>
                  <a:srgbClr val="4A4F5C"/>
                </a:solidFill>
                <a:latin typeface="DM Sans" pitchFamily="34" charset="0"/>
                <a:ea typeface="DM Sans" pitchFamily="34" charset="-122"/>
                <a:cs typeface="DM Sans" pitchFamily="34" charset="-120"/>
              </a:rPr>
              <a:t>Removes blockers</a:t>
            </a:r>
            <a:endParaRPr lang="en-US" sz="1300" dirty="0"/>
          </a:p>
        </p:txBody>
      </p:sp>
      <p:sp>
        <p:nvSpPr>
          <p:cNvPr id="18" name="Text 16"/>
          <p:cNvSpPr/>
          <p:nvPr/>
        </p:nvSpPr>
        <p:spPr>
          <a:xfrm>
            <a:off x="8200827" y="4808220"/>
            <a:ext cx="2970094" cy="340360"/>
          </a:xfrm>
          <a:prstGeom prst="roundRect">
            <a:avLst>
              <a:gd name="adj" fmla="val 22388"/>
            </a:avLst>
          </a:prstGeom>
          <a:solidFill>
            <a:srgbClr val="EFE9DF"/>
          </a:solidFill>
          <a:ln/>
        </p:spPr>
        <p:txBody>
          <a:bodyPr wrap="square" lIns="91982" tIns="41182" rIns="9737" bIns="15782" rtlCol="0" anchor="t">
            <a:normAutofit/>
          </a:bodyPr>
          <a:lstStyle/>
          <a:p>
            <a:pPr algn="l" indent="0" marL="0">
              <a:lnSpc>
                <a:spcPts val="1680"/>
              </a:lnSpc>
              <a:buNone/>
            </a:pPr>
            <a:r>
              <a:rPr lang="en-US" sz="1200" dirty="0">
                <a:solidFill>
                  <a:srgbClr val="161A23"/>
                </a:solidFill>
                <a:latin typeface="DM Sans" pitchFamily="34" charset="0"/>
                <a:ea typeface="DM Sans" pitchFamily="34" charset="-122"/>
                <a:cs typeface="DM Sans" pitchFamily="34" charset="-120"/>
              </a:rPr>
              <a:t>Presents: risks, backlog, Sprint 1</a:t>
            </a:r>
            <a:endParaRPr lang="en-US" sz="1200" dirty="0"/>
          </a:p>
        </p:txBody>
      </p:sp>
      <p:sp>
        <p:nvSpPr>
          <p:cNvPr id="19" name="Text 17"/>
          <p:cNvSpPr/>
          <p:nvPr/>
        </p:nvSpPr>
        <p:spPr>
          <a:xfrm>
            <a:off x="812800" y="561086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C"/>
                </a:solidFill>
                <a:latin typeface="DM Sans" pitchFamily="34" charset="0"/>
                <a:ea typeface="DM Sans" pitchFamily="34" charset="-122"/>
                <a:cs typeface="DM Sans" pitchFamily="34" charset="-120"/>
              </a:rPr>
              <a:t>All three of us write code; the roles define who owns each decision.</a:t>
            </a:r>
            <a:endParaRPr lang="en-US" sz="1300" dirty="0"/>
          </a:p>
        </p:txBody>
      </p:sp>
      <p:sp>
        <p:nvSpPr>
          <p:cNvPr id="20" name="Text 18"/>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A"/>
                </a:solidFill>
                <a:latin typeface="DM Sans" pitchFamily="34" charset="0"/>
                <a:ea typeface="DM Sans" pitchFamily="34" charset="-122"/>
                <a:cs typeface="DM Sans" pitchFamily="34" charset="-120"/>
              </a:rPr>
              <a:t>Stake · Productivity Masters   02 / 15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31E"/>
                </a:solidFill>
                <a:latin typeface="DM Sans" pitchFamily="34" charset="0"/>
                <a:ea typeface="DM Sans" pitchFamily="34" charset="-122"/>
                <a:cs typeface="DM Sans" pitchFamily="34" charset="-120"/>
              </a:rPr>
              <a:t>THE PROBLEM</a:t>
            </a:r>
            <a:endParaRPr lang="en-US" sz="1200" dirty="0"/>
          </a:p>
        </p:txBody>
      </p:sp>
      <p:sp>
        <p:nvSpPr>
          <p:cNvPr id="3" name="Text 1"/>
          <p:cNvSpPr/>
          <p:nvPr/>
        </p:nvSpPr>
        <p:spPr>
          <a:xfrm>
            <a:off x="812800" y="1102361"/>
            <a:ext cx="10883392" cy="9194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1A23"/>
                </a:solidFill>
                <a:latin typeface="Space Grotesk" pitchFamily="34" charset="0"/>
                <a:ea typeface="Space Grotesk" pitchFamily="34" charset="-122"/>
                <a:cs typeface="Space Grotesk" pitchFamily="34" charset="-120"/>
              </a:rPr>
              <a:t>Productivity apps run on willpower,</a:t>
            </a:r>
            <a:endParaRPr lang="en-US" sz="3200" dirty="0"/>
          </a:p>
          <a:p>
            <a:pPr algn="l" indent="0" marL="0">
              <a:lnSpc>
                <a:spcPts val="3520"/>
              </a:lnSpc>
              <a:buNone/>
            </a:pPr>
            <a:r>
              <a:rPr lang="en-US" sz="3200" b="1" dirty="0">
                <a:solidFill>
                  <a:srgbClr val="161A23"/>
                </a:solidFill>
                <a:latin typeface="Space Grotesk" pitchFamily="34" charset="0"/>
                <a:ea typeface="Space Grotesk" pitchFamily="34" charset="-122"/>
                <a:cs typeface="Space Grotesk" pitchFamily="34" charset="-120"/>
              </a:rPr>
              <a:t>and willpower is easy to ignore.</a:t>
            </a:r>
            <a:endParaRPr lang="en-US" sz="3200" dirty="0"/>
          </a:p>
        </p:txBody>
      </p:sp>
      <p:sp>
        <p:nvSpPr>
          <p:cNvPr id="4" name="Shape 2"/>
          <p:cNvSpPr/>
          <p:nvPr/>
        </p:nvSpPr>
        <p:spPr>
          <a:xfrm>
            <a:off x="815975" y="2253616"/>
            <a:ext cx="3380303" cy="1593850"/>
          </a:xfrm>
          <a:prstGeom prst="roundRect">
            <a:avLst>
              <a:gd name="adj" fmla="val 7769"/>
            </a:avLst>
          </a:prstGeom>
          <a:solidFill>
            <a:srgbClr val="FFFDFA"/>
          </a:solidFill>
          <a:ln w="6350">
            <a:solidFill>
              <a:srgbClr val="E2DBCF"/>
            </a:solidFill>
            <a:prstDash val="solid"/>
          </a:ln>
        </p:spPr>
      </p:sp>
      <p:sp>
        <p:nvSpPr>
          <p:cNvPr id="5" name="Text 3"/>
          <p:cNvSpPr/>
          <p:nvPr/>
        </p:nvSpPr>
        <p:spPr>
          <a:xfrm>
            <a:off x="1021080" y="2458720"/>
            <a:ext cx="3059196"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1A23"/>
                </a:solidFill>
                <a:latin typeface="Space Grotesk" pitchFamily="34" charset="0"/>
                <a:ea typeface="Space Grotesk" pitchFamily="34" charset="-122"/>
                <a:cs typeface="Space Grotesk" pitchFamily="34" charset="-120"/>
              </a:rPr>
              <a:t>Reminders get swiped away</a:t>
            </a:r>
            <a:endParaRPr lang="en-US" sz="2000" dirty="0"/>
          </a:p>
        </p:txBody>
      </p:sp>
      <p:sp>
        <p:nvSpPr>
          <p:cNvPr id="6" name="Text 4"/>
          <p:cNvSpPr/>
          <p:nvPr/>
        </p:nvSpPr>
        <p:spPr>
          <a:xfrm>
            <a:off x="1021080" y="3144520"/>
            <a:ext cx="30591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C"/>
                </a:solidFill>
                <a:latin typeface="DM Sans" pitchFamily="34" charset="0"/>
                <a:ea typeface="DM Sans" pitchFamily="34" charset="-122"/>
                <a:cs typeface="DM Sans" pitchFamily="34" charset="-120"/>
              </a:rPr>
              <a:t>A notification is a suggestion. Dismissing it costs nothing.</a:t>
            </a:r>
            <a:endParaRPr lang="en-US" sz="1400" dirty="0"/>
          </a:p>
        </p:txBody>
      </p:sp>
      <p:sp>
        <p:nvSpPr>
          <p:cNvPr id="7" name="Shape 5"/>
          <p:cNvSpPr/>
          <p:nvPr/>
        </p:nvSpPr>
        <p:spPr>
          <a:xfrm>
            <a:off x="4405828" y="2253616"/>
            <a:ext cx="3380343" cy="1593850"/>
          </a:xfrm>
          <a:prstGeom prst="roundRect">
            <a:avLst>
              <a:gd name="adj" fmla="val 7769"/>
            </a:avLst>
          </a:prstGeom>
          <a:solidFill>
            <a:srgbClr val="FFFDFA"/>
          </a:solidFill>
          <a:ln w="6350">
            <a:solidFill>
              <a:srgbClr val="E2DBCF"/>
            </a:solidFill>
            <a:prstDash val="solid"/>
          </a:ln>
        </p:spPr>
      </p:sp>
      <p:sp>
        <p:nvSpPr>
          <p:cNvPr id="8" name="Text 6"/>
          <p:cNvSpPr/>
          <p:nvPr/>
        </p:nvSpPr>
        <p:spPr>
          <a:xfrm>
            <a:off x="4610934" y="2458720"/>
            <a:ext cx="30592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1A23"/>
                </a:solidFill>
                <a:latin typeface="Space Grotesk" pitchFamily="34" charset="0"/>
                <a:ea typeface="Space Grotesk" pitchFamily="34" charset="-122"/>
                <a:cs typeface="Space Grotesk" pitchFamily="34" charset="-120"/>
              </a:rPr>
              <a:t>Nobody is watching</a:t>
            </a:r>
            <a:endParaRPr lang="en-US" sz="2000" dirty="0"/>
          </a:p>
        </p:txBody>
      </p:sp>
      <p:sp>
        <p:nvSpPr>
          <p:cNvPr id="9" name="Text 7"/>
          <p:cNvSpPr/>
          <p:nvPr/>
        </p:nvSpPr>
        <p:spPr>
          <a:xfrm>
            <a:off x="4610934" y="2839720"/>
            <a:ext cx="305923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C"/>
                </a:solidFill>
                <a:latin typeface="DM Sans" pitchFamily="34" charset="0"/>
                <a:ea typeface="DM Sans" pitchFamily="34" charset="-122"/>
                <a:cs typeface="DM Sans" pitchFamily="34" charset="-120"/>
              </a:rPr>
              <a:t>When you quit a streak in a private app, no one ever knows.</a:t>
            </a:r>
            <a:endParaRPr lang="en-US" sz="1400" dirty="0"/>
          </a:p>
        </p:txBody>
      </p:sp>
      <p:sp>
        <p:nvSpPr>
          <p:cNvPr id="10" name="Shape 8"/>
          <p:cNvSpPr/>
          <p:nvPr/>
        </p:nvSpPr>
        <p:spPr>
          <a:xfrm>
            <a:off x="7995722" y="2253616"/>
            <a:ext cx="3380303" cy="1593850"/>
          </a:xfrm>
          <a:prstGeom prst="roundRect">
            <a:avLst>
              <a:gd name="adj" fmla="val 7769"/>
            </a:avLst>
          </a:prstGeom>
          <a:solidFill>
            <a:srgbClr val="FFFDFA"/>
          </a:solidFill>
          <a:ln w="6350">
            <a:solidFill>
              <a:srgbClr val="E2DBCF"/>
            </a:solidFill>
            <a:prstDash val="solid"/>
          </a:ln>
        </p:spPr>
      </p:sp>
      <p:sp>
        <p:nvSpPr>
          <p:cNvPr id="11" name="Text 9"/>
          <p:cNvSpPr/>
          <p:nvPr/>
        </p:nvSpPr>
        <p:spPr>
          <a:xfrm>
            <a:off x="8200827" y="2458720"/>
            <a:ext cx="305919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1A23"/>
                </a:solidFill>
                <a:latin typeface="Space Grotesk" pitchFamily="34" charset="0"/>
                <a:ea typeface="Space Grotesk" pitchFamily="34" charset="-122"/>
                <a:cs typeface="Space Grotesk" pitchFamily="34" charset="-120"/>
              </a:rPr>
              <a:t>Failing has no cost</a:t>
            </a:r>
            <a:endParaRPr lang="en-US" sz="2000" dirty="0"/>
          </a:p>
        </p:txBody>
      </p:sp>
      <p:sp>
        <p:nvSpPr>
          <p:cNvPr id="12" name="Text 10"/>
          <p:cNvSpPr/>
          <p:nvPr/>
        </p:nvSpPr>
        <p:spPr>
          <a:xfrm>
            <a:off x="8200827" y="2839720"/>
            <a:ext cx="30591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C"/>
                </a:solidFill>
                <a:latin typeface="DM Sans" pitchFamily="34" charset="0"/>
                <a:ea typeface="DM Sans" pitchFamily="34" charset="-122"/>
                <a:cs typeface="DM Sans" pitchFamily="34" charset="-120"/>
              </a:rPr>
              <a:t>Skip the gym, skip the study session, and nothing happens.</a:t>
            </a:r>
            <a:endParaRPr lang="en-US" sz="1400" dirty="0"/>
          </a:p>
        </p:txBody>
      </p:sp>
      <p:sp>
        <p:nvSpPr>
          <p:cNvPr id="13" name="Text 11"/>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A"/>
                </a:solidFill>
                <a:latin typeface="DM Sans" pitchFamily="34" charset="0"/>
                <a:ea typeface="DM Sans" pitchFamily="34" charset="-122"/>
                <a:cs typeface="DM Sans" pitchFamily="34" charset="-120"/>
              </a:rPr>
              <a:t>Stake · Productivity Masters   03 / 15</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31E"/>
                </a:solidFill>
                <a:latin typeface="DM Sans" pitchFamily="34" charset="0"/>
                <a:ea typeface="DM Sans" pitchFamily="34" charset="-122"/>
                <a:cs typeface="DM Sans" pitchFamily="34" charset="-120"/>
              </a:rPr>
              <a:t>OUR SOLUTION</a:t>
            </a:r>
            <a:endParaRPr lang="en-US" sz="1200" dirty="0"/>
          </a:p>
        </p:txBody>
      </p:sp>
      <p:sp>
        <p:nvSpPr>
          <p:cNvPr id="3" name="Text 1"/>
          <p:cNvSpPr/>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1A23"/>
                </a:solidFill>
                <a:latin typeface="Space Grotesk" pitchFamily="34" charset="0"/>
                <a:ea typeface="Space Grotesk" pitchFamily="34" charset="-122"/>
                <a:cs typeface="Space Grotesk" pitchFamily="34" charset="-120"/>
              </a:rPr>
              <a:t>How Stake works</a:t>
            </a:r>
            <a:endParaRPr lang="en-US" sz="3200" dirty="0"/>
          </a:p>
        </p:txBody>
      </p:sp>
      <p:sp>
        <p:nvSpPr>
          <p:cNvPr id="4" name="Shape 2"/>
          <p:cNvSpPr/>
          <p:nvPr/>
        </p:nvSpPr>
        <p:spPr>
          <a:xfrm>
            <a:off x="815975" y="1806575"/>
            <a:ext cx="2501900" cy="4032250"/>
          </a:xfrm>
          <a:prstGeom prst="roundRect">
            <a:avLst>
              <a:gd name="adj" fmla="val 4949"/>
            </a:avLst>
          </a:prstGeom>
          <a:solidFill>
            <a:srgbClr val="FFFDFA"/>
          </a:solidFill>
          <a:ln w="6350">
            <a:solidFill>
              <a:srgbClr val="E2DBCF"/>
            </a:solidFill>
            <a:prstDash val="solid"/>
          </a:ln>
        </p:spPr>
      </p:sp>
      <p:sp>
        <p:nvSpPr>
          <p:cNvPr id="5" name="Text 3"/>
          <p:cNvSpPr/>
          <p:nvPr/>
        </p:nvSpPr>
        <p:spPr>
          <a:xfrm>
            <a:off x="1021080" y="2011680"/>
            <a:ext cx="2154441"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B8431E"/>
                </a:solidFill>
                <a:latin typeface="Space Grotesk" pitchFamily="34" charset="0"/>
                <a:ea typeface="Space Grotesk" pitchFamily="34" charset="-122"/>
                <a:cs typeface="Space Grotesk" pitchFamily="34" charset="-120"/>
              </a:rPr>
              <a:t>01</a:t>
            </a:r>
            <a:endParaRPr lang="en-US" sz="3600" dirty="0"/>
          </a:p>
        </p:txBody>
      </p:sp>
      <p:sp>
        <p:nvSpPr>
          <p:cNvPr id="6" name="Text 4"/>
          <p:cNvSpPr/>
          <p:nvPr/>
        </p:nvSpPr>
        <p:spPr>
          <a:xfrm>
            <a:off x="1021080" y="2545080"/>
            <a:ext cx="215444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1A23"/>
                </a:solidFill>
                <a:latin typeface="Space Grotesk" pitchFamily="34" charset="0"/>
                <a:ea typeface="Space Grotesk" pitchFamily="34" charset="-122"/>
                <a:cs typeface="Space Grotesk" pitchFamily="34" charset="-120"/>
              </a:rPr>
              <a:t>Set a goal</a:t>
            </a:r>
            <a:endParaRPr lang="en-US" sz="2000" dirty="0"/>
          </a:p>
        </p:txBody>
      </p:sp>
      <p:sp>
        <p:nvSpPr>
          <p:cNvPr id="7" name="Text 5"/>
          <p:cNvSpPr/>
          <p:nvPr/>
        </p:nvSpPr>
        <p:spPr>
          <a:xfrm>
            <a:off x="1021080" y="2926080"/>
            <a:ext cx="2154441"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4F5C"/>
                </a:solidFill>
                <a:latin typeface="DM Sans" pitchFamily="34" charset="0"/>
                <a:ea typeface="DM Sans" pitchFamily="34" charset="-122"/>
                <a:cs typeface="DM Sans" pitchFamily="34" charset="-120"/>
              </a:rPr>
              <a:t>Pick how often (daily, 3×/week) and a daily check-in deadline.</a:t>
            </a:r>
            <a:endParaRPr lang="en-US" sz="1300" dirty="0"/>
          </a:p>
        </p:txBody>
      </p:sp>
      <p:sp>
        <p:nvSpPr>
          <p:cNvPr id="8" name="Shape 6"/>
          <p:cNvSpPr/>
          <p:nvPr/>
        </p:nvSpPr>
        <p:spPr>
          <a:xfrm>
            <a:off x="3502025" y="1806575"/>
            <a:ext cx="2501900" cy="4032250"/>
          </a:xfrm>
          <a:prstGeom prst="roundRect">
            <a:avLst>
              <a:gd name="adj" fmla="val 4949"/>
            </a:avLst>
          </a:prstGeom>
          <a:solidFill>
            <a:srgbClr val="FFFDFA"/>
          </a:solidFill>
          <a:ln w="6350">
            <a:solidFill>
              <a:srgbClr val="E2DBCF"/>
            </a:solidFill>
            <a:prstDash val="solid"/>
          </a:ln>
        </p:spPr>
      </p:sp>
      <p:sp>
        <p:nvSpPr>
          <p:cNvPr id="9" name="Text 7"/>
          <p:cNvSpPr/>
          <p:nvPr/>
        </p:nvSpPr>
        <p:spPr>
          <a:xfrm>
            <a:off x="3707130" y="2011680"/>
            <a:ext cx="2154441"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B8431E"/>
                </a:solidFill>
                <a:latin typeface="Space Grotesk" pitchFamily="34" charset="0"/>
                <a:ea typeface="Space Grotesk" pitchFamily="34" charset="-122"/>
                <a:cs typeface="Space Grotesk" pitchFamily="34" charset="-120"/>
              </a:rPr>
              <a:t>02</a:t>
            </a:r>
            <a:endParaRPr lang="en-US" sz="3600" dirty="0"/>
          </a:p>
        </p:txBody>
      </p:sp>
      <p:sp>
        <p:nvSpPr>
          <p:cNvPr id="10" name="Text 8"/>
          <p:cNvSpPr/>
          <p:nvPr/>
        </p:nvSpPr>
        <p:spPr>
          <a:xfrm>
            <a:off x="3707130" y="2545080"/>
            <a:ext cx="215444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1A23"/>
                </a:solidFill>
                <a:latin typeface="Space Grotesk" pitchFamily="34" charset="0"/>
                <a:ea typeface="Space Grotesk" pitchFamily="34" charset="-122"/>
                <a:cs typeface="Space Grotesk" pitchFamily="34" charset="-120"/>
              </a:rPr>
              <a:t>Stake a photo</a:t>
            </a:r>
            <a:endParaRPr lang="en-US" sz="2000" dirty="0"/>
          </a:p>
        </p:txBody>
      </p:sp>
      <p:sp>
        <p:nvSpPr>
          <p:cNvPr id="11" name="Text 9"/>
          <p:cNvSpPr/>
          <p:nvPr/>
        </p:nvSpPr>
        <p:spPr>
          <a:xfrm>
            <a:off x="3707130" y="2926080"/>
            <a:ext cx="2154441" cy="98298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4F5C"/>
                </a:solidFill>
                <a:latin typeface="DM Sans" pitchFamily="34" charset="0"/>
                <a:ea typeface="DM Sans" pitchFamily="34" charset="-122"/>
                <a:cs typeface="DM Sans" pitchFamily="34" charset="-120"/>
              </a:rPr>
              <a:t>Upload an embarrassing photo. It stays hidden and locked while the goal is active.</a:t>
            </a:r>
            <a:endParaRPr lang="en-US" sz="1300" dirty="0"/>
          </a:p>
        </p:txBody>
      </p:sp>
      <p:sp>
        <p:nvSpPr>
          <p:cNvPr id="12" name="Shape 10"/>
          <p:cNvSpPr/>
          <p:nvPr/>
        </p:nvSpPr>
        <p:spPr>
          <a:xfrm>
            <a:off x="6188075" y="1806575"/>
            <a:ext cx="2501900" cy="4032250"/>
          </a:xfrm>
          <a:prstGeom prst="roundRect">
            <a:avLst>
              <a:gd name="adj" fmla="val 4949"/>
            </a:avLst>
          </a:prstGeom>
          <a:solidFill>
            <a:srgbClr val="FFFDFA"/>
          </a:solidFill>
          <a:ln w="6350">
            <a:solidFill>
              <a:srgbClr val="E2DBCF"/>
            </a:solidFill>
            <a:prstDash val="solid"/>
          </a:ln>
        </p:spPr>
      </p:sp>
      <p:sp>
        <p:nvSpPr>
          <p:cNvPr id="13" name="Text 11"/>
          <p:cNvSpPr/>
          <p:nvPr/>
        </p:nvSpPr>
        <p:spPr>
          <a:xfrm>
            <a:off x="6393180" y="2011680"/>
            <a:ext cx="2154441"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B8431E"/>
                </a:solidFill>
                <a:latin typeface="Space Grotesk" pitchFamily="34" charset="0"/>
                <a:ea typeface="Space Grotesk" pitchFamily="34" charset="-122"/>
                <a:cs typeface="Space Grotesk" pitchFamily="34" charset="-120"/>
              </a:rPr>
              <a:t>03</a:t>
            </a:r>
            <a:endParaRPr lang="en-US" sz="3600" dirty="0"/>
          </a:p>
        </p:txBody>
      </p:sp>
      <p:sp>
        <p:nvSpPr>
          <p:cNvPr id="14" name="Text 12"/>
          <p:cNvSpPr/>
          <p:nvPr/>
        </p:nvSpPr>
        <p:spPr>
          <a:xfrm>
            <a:off x="6393180" y="2545080"/>
            <a:ext cx="215444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1A23"/>
                </a:solidFill>
                <a:latin typeface="Space Grotesk" pitchFamily="34" charset="0"/>
                <a:ea typeface="Space Grotesk" pitchFamily="34" charset="-122"/>
                <a:cs typeface="Space Grotesk" pitchFamily="34" charset="-120"/>
              </a:rPr>
              <a:t>Check in</a:t>
            </a:r>
            <a:endParaRPr lang="en-US" sz="2000" dirty="0"/>
          </a:p>
        </p:txBody>
      </p:sp>
      <p:sp>
        <p:nvSpPr>
          <p:cNvPr id="15" name="Text 13"/>
          <p:cNvSpPr/>
          <p:nvPr/>
        </p:nvSpPr>
        <p:spPr>
          <a:xfrm>
            <a:off x="6393180" y="2926080"/>
            <a:ext cx="2154441"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4F5C"/>
                </a:solidFill>
                <a:latin typeface="DM Sans" pitchFamily="34" charset="0"/>
                <a:ea typeface="DM Sans" pitchFamily="34" charset="-122"/>
                <a:cs typeface="DM Sans" pitchFamily="34" charset="-120"/>
              </a:rPr>
              <a:t>Post a timestamped photo of yourself doing it. Friends can flag fakes.</a:t>
            </a:r>
            <a:endParaRPr lang="en-US" sz="1300" dirty="0"/>
          </a:p>
        </p:txBody>
      </p:sp>
      <p:sp>
        <p:nvSpPr>
          <p:cNvPr id="16" name="Shape 14"/>
          <p:cNvSpPr/>
          <p:nvPr/>
        </p:nvSpPr>
        <p:spPr>
          <a:xfrm>
            <a:off x="8874125" y="1806575"/>
            <a:ext cx="2501900" cy="4032250"/>
          </a:xfrm>
          <a:prstGeom prst="roundRect">
            <a:avLst>
              <a:gd name="adj" fmla="val 4949"/>
            </a:avLst>
          </a:prstGeom>
          <a:solidFill>
            <a:srgbClr val="FFFDFA"/>
          </a:solidFill>
          <a:ln w="6350">
            <a:solidFill>
              <a:srgbClr val="E2DBCF"/>
            </a:solidFill>
            <a:prstDash val="solid"/>
          </a:ln>
        </p:spPr>
      </p:sp>
      <p:sp>
        <p:nvSpPr>
          <p:cNvPr id="17" name="Text 15"/>
          <p:cNvSpPr/>
          <p:nvPr/>
        </p:nvSpPr>
        <p:spPr>
          <a:xfrm>
            <a:off x="9079230" y="2011680"/>
            <a:ext cx="2154441"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B8431E"/>
                </a:solidFill>
                <a:latin typeface="Space Grotesk" pitchFamily="34" charset="0"/>
                <a:ea typeface="Space Grotesk" pitchFamily="34" charset="-122"/>
                <a:cs typeface="Space Grotesk" pitchFamily="34" charset="-120"/>
              </a:rPr>
              <a:t>04</a:t>
            </a:r>
            <a:endParaRPr lang="en-US" sz="3600" dirty="0"/>
          </a:p>
        </p:txBody>
      </p:sp>
      <p:sp>
        <p:nvSpPr>
          <p:cNvPr id="18" name="Text 16"/>
          <p:cNvSpPr/>
          <p:nvPr/>
        </p:nvSpPr>
        <p:spPr>
          <a:xfrm>
            <a:off x="9079230" y="2545080"/>
            <a:ext cx="215444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1A23"/>
                </a:solidFill>
                <a:latin typeface="Space Grotesk" pitchFamily="34" charset="0"/>
                <a:ea typeface="Space Grotesk" pitchFamily="34" charset="-122"/>
                <a:cs typeface="Space Grotesk" pitchFamily="34" charset="-120"/>
              </a:rPr>
              <a:t>Miss it, it posts</a:t>
            </a:r>
            <a:endParaRPr lang="en-US" sz="2000" dirty="0"/>
          </a:p>
        </p:txBody>
      </p:sp>
      <p:sp>
        <p:nvSpPr>
          <p:cNvPr id="19" name="Text 17"/>
          <p:cNvSpPr/>
          <p:nvPr/>
        </p:nvSpPr>
        <p:spPr>
          <a:xfrm>
            <a:off x="9079230" y="2926080"/>
            <a:ext cx="2154441"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4F5C"/>
                </a:solidFill>
                <a:latin typeface="DM Sans" pitchFamily="34" charset="0"/>
                <a:ea typeface="DM Sans" pitchFamily="34" charset="-122"/>
                <a:cs typeface="DM Sans" pitchFamily="34" charset="-120"/>
              </a:rPr>
              <a:t>Miss the deadline and your stake goes to your friends' feed. Restake and try again.</a:t>
            </a:r>
            <a:endParaRPr lang="en-US" sz="1300" dirty="0"/>
          </a:p>
        </p:txBody>
      </p:sp>
      <p:sp>
        <p:nvSpPr>
          <p:cNvPr id="20" name="Text 18"/>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A"/>
                </a:solidFill>
                <a:latin typeface="DM Sans" pitchFamily="34" charset="0"/>
                <a:ea typeface="DM Sans" pitchFamily="34" charset="-122"/>
                <a:cs typeface="DM Sans" pitchFamily="34" charset="-120"/>
              </a:rPr>
              <a:t>Stake · Productivity Masters   04 / 15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31E"/>
                </a:solidFill>
                <a:latin typeface="DM Sans" pitchFamily="34" charset="0"/>
                <a:ea typeface="DM Sans" pitchFamily="34" charset="-122"/>
                <a:cs typeface="DM Sans" pitchFamily="34" charset="-120"/>
              </a:rPr>
              <a:t>WHY STAKE IS DIFFERENT</a:t>
            </a:r>
            <a:endParaRPr lang="en-US" sz="1200" dirty="0"/>
          </a:p>
        </p:txBody>
      </p:sp>
      <p:sp>
        <p:nvSpPr>
          <p:cNvPr id="3" name="Text 1"/>
          <p:cNvSpPr/>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1A23"/>
                </a:solidFill>
                <a:latin typeface="Space Grotesk" pitchFamily="34" charset="0"/>
                <a:ea typeface="Space Grotesk" pitchFamily="34" charset="-122"/>
                <a:cs typeface="Space Grotesk" pitchFamily="34" charset="-120"/>
              </a:rPr>
              <a:t>Accountability you can't swipe away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100"/>
          <a:ext cx="10553700" cy="2806700"/>
        </p:xfrm>
        <a:graphic>
          <a:graphicData uri="http://schemas.openxmlformats.org/drawingml/2006/table">
            <a:tbl>
              <a:tblPr/>
              <a:tblGrid>
                <a:gridCol w="2955036"/>
                <a:gridCol w="3799332"/>
                <a:gridCol w="3799332"/>
              </a:tblGrid>
              <a:tr h="508000">
                <a:tc>
                  <a:txBody>
                    <a:bodyPr/>
                    <a:lstStyle/>
                    <a:p>
                      <a:pPr indent="0" marL="0">
                        <a:lnSpc>
                          <a:spcPts val="2100"/>
                        </a:lnSpc>
                        <a:buNone/>
                      </a:pPr>
                      <a:endParaRPr lang="en-US" sz="1500" dirty="0">
                        <a:latin typeface="DM Sans" charset="0"/>
                        <a:ea typeface="DM Sans" charset="0"/>
                        <a:cs typeface="DM Sans" charset="0"/>
                      </a:endParaRPr>
                    </a:p>
                  </a:txBody>
                  <a:tcPr marL="152400" marR="152400" marT="114300" marB="114300" anchor="t">
                    <a:lnL w="12700" cap="flat" cmpd="sng" algn="ctr">
                      <a:solidFill>
                        <a:srgbClr val="C4C2BE"/>
                      </a:solidFill>
                      <a:prstDash val="solid"/>
                      <a:round/>
                      <a:headEnd type="none" w="med" len="med"/>
                      <a:tailEnd type="none" w="med" len="med"/>
                    </a:lnL>
                    <a:lnR w="12700" cap="flat" cmpd="sng" algn="ctr">
                      <a:solidFill>
                        <a:srgbClr val="B6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6B4B0"/>
                      </a:solidFill>
                      <a:prstDash val="solid"/>
                      <a:round/>
                      <a:headEnd type="none" w="med" len="med"/>
                      <a:tailEnd type="none" w="med" len="med"/>
                    </a:lnB>
                    <a:solidFill>
                      <a:srgbClr val="E4E1DC"/>
                    </a:solidFill>
                  </a:tcPr>
                </a:tc>
                <a:tc>
                  <a:txBody>
                    <a:bodyPr/>
                    <a:lstStyle/>
                    <a:p>
                      <a:pPr indent="0" marL="0">
                        <a:lnSpc>
                          <a:spcPts val="2100"/>
                        </a:lnSpc>
                        <a:buNone/>
                      </a:pPr>
                      <a:r>
                        <a:rPr lang="en-US" sz="1500" b="1" dirty="0">
                          <a:solidFill>
                            <a:srgbClr val="4A4F5C"/>
                          </a:solidFill>
                          <a:latin typeface="DM Sans" pitchFamily="34" charset="0"/>
                          <a:ea typeface="DM Sans" pitchFamily="34" charset="-122"/>
                          <a:cs typeface="DM Sans" pitchFamily="34" charset="-120"/>
                        </a:rPr>
                        <a:t>Typical habit apps (e.g. Habitify)</a:t>
                      </a:r>
                      <a:endParaRPr lang="en-US" sz="1500" dirty="0">
                        <a:latin typeface="DM Sans" charset="0"/>
                        <a:ea typeface="DM Sans" charset="0"/>
                        <a:cs typeface="DM Sans" charset="0"/>
                      </a:endParaRPr>
                    </a:p>
                  </a:txBody>
                  <a:tcPr marL="152400" marR="152400" marT="114300" marB="114300" anchor="t">
                    <a:lnL w="12700" cap="flat" cmpd="sng" algn="ctr">
                      <a:solidFill>
                        <a:srgbClr val="B6B4B0"/>
                      </a:solidFill>
                      <a:prstDash val="solid"/>
                      <a:round/>
                      <a:headEnd type="none" w="med" len="med"/>
                      <a:tailEnd type="none" w="med" len="med"/>
                    </a:lnL>
                    <a:lnR w="12700" cap="flat" cmpd="sng" algn="ctr">
                      <a:solidFill>
                        <a:srgbClr val="B6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6B4B0"/>
                      </a:solidFill>
                      <a:prstDash val="solid"/>
                      <a:round/>
                      <a:headEnd type="none" w="med" len="med"/>
                      <a:tailEnd type="none" w="med" len="med"/>
                    </a:lnB>
                    <a:solidFill>
                      <a:srgbClr val="E4E1DC"/>
                    </a:solidFill>
                  </a:tcPr>
                </a:tc>
                <a:tc>
                  <a:txBody>
                    <a:bodyPr/>
                    <a:lstStyle/>
                    <a:p>
                      <a:pPr indent="0" marL="0">
                        <a:lnSpc>
                          <a:spcPts val="2100"/>
                        </a:lnSpc>
                        <a:buNone/>
                      </a:pPr>
                      <a:r>
                        <a:rPr lang="en-US" sz="1500" b="1" dirty="0">
                          <a:solidFill>
                            <a:srgbClr val="B8431E"/>
                          </a:solidFill>
                          <a:latin typeface="DM Sans" pitchFamily="34" charset="0"/>
                          <a:ea typeface="DM Sans" pitchFamily="34" charset="-122"/>
                          <a:cs typeface="DM Sans" pitchFamily="34" charset="-120"/>
                        </a:rPr>
                        <a:t>Stake</a:t>
                      </a:r>
                      <a:endParaRPr lang="en-US" sz="1500" dirty="0">
                        <a:latin typeface="DM Sans" charset="0"/>
                        <a:ea typeface="DM Sans" charset="0"/>
                        <a:cs typeface="DM Sans" charset="0"/>
                      </a:endParaRPr>
                    </a:p>
                  </a:txBody>
                  <a:tcPr marL="152400" marR="152400" marT="114300" marB="114300" anchor="t">
                    <a:lnL w="12700" cap="flat" cmpd="sng" algn="ctr">
                      <a:solidFill>
                        <a:srgbClr val="B6B4B0"/>
                      </a:solidFill>
                      <a:prstDash val="solid"/>
                      <a:round/>
                      <a:headEnd type="none" w="med" len="med"/>
                      <a:tailEnd type="none" w="med" len="med"/>
                    </a:lnL>
                    <a:lnR w="12700" cap="flat" cmpd="sng" algn="ctr">
                      <a:solidFill>
                        <a:srgbClr val="B6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6B4B0"/>
                      </a:solidFill>
                      <a:prstDash val="solid"/>
                      <a:round/>
                      <a:headEnd type="none" w="med" len="med"/>
                      <a:tailEnd type="none" w="med" len="med"/>
                    </a:lnB>
                    <a:solidFill>
                      <a:srgbClr val="E4E1DC"/>
                    </a:solidFill>
                  </a:tcPr>
                </a:tc>
              </a:tr>
              <a:tr h="508000">
                <a:tc>
                  <a:txBody>
                    <a:bodyPr/>
                    <a:lstStyle/>
                    <a:p>
                      <a:pPr indent="0" marL="0">
                        <a:lnSpc>
                          <a:spcPts val="2100"/>
                        </a:lnSpc>
                        <a:buNone/>
                      </a:pPr>
                      <a:r>
                        <a:rPr lang="en-US" sz="1500" dirty="0">
                          <a:solidFill>
                            <a:srgbClr val="161A23"/>
                          </a:solidFill>
                          <a:latin typeface="DM Sans" pitchFamily="34" charset="0"/>
                          <a:ea typeface="DM Sans" pitchFamily="34" charset="-122"/>
                          <a:cs typeface="DM Sans" pitchFamily="34" charset="-120"/>
                        </a:rPr>
                        <a:t>Motivation</a:t>
                      </a:r>
                      <a:endParaRPr lang="en-US" sz="1500" dirty="0">
                        <a:latin typeface="DM Sans" charset="0"/>
                        <a:ea typeface="DM Sans" charset="0"/>
                        <a:cs typeface="DM Sans" charset="0"/>
                      </a:endParaRPr>
                    </a:p>
                  </a:txBody>
                  <a:tcPr marL="152400" marR="152400" marT="114300" marB="1143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6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4A4F5C"/>
                          </a:solidFill>
                          <a:latin typeface="DM Sans" pitchFamily="34" charset="0"/>
                          <a:ea typeface="DM Sans" pitchFamily="34" charset="-122"/>
                          <a:cs typeface="DM Sans" pitchFamily="34" charset="-120"/>
                        </a:rPr>
                        <a:t>Reminders</a:t>
                      </a:r>
                      <a:endParaRPr lang="en-US" sz="1500" dirty="0">
                        <a:latin typeface="DM Sans" charset="0"/>
                        <a:ea typeface="DM Sans" charset="0"/>
                        <a:cs typeface="DM Sans" charset="0"/>
                      </a:endParaRPr>
                    </a:p>
                  </a:txBody>
                  <a:tcPr marL="152400" marR="152400" marT="114300" marB="1143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6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61A23"/>
                          </a:solidFill>
                          <a:latin typeface="DM Sans" pitchFamily="34" charset="0"/>
                          <a:ea typeface="DM Sans" pitchFamily="34" charset="-122"/>
                          <a:cs typeface="DM Sans" pitchFamily="34" charset="-120"/>
                        </a:rPr>
                        <a:t>Social pressure + a personal stake</a:t>
                      </a:r>
                      <a:endParaRPr lang="en-US" sz="1500" dirty="0">
                        <a:latin typeface="DM Sans" charset="0"/>
                        <a:ea typeface="DM Sans" charset="0"/>
                        <a:cs typeface="DM Sans" charset="0"/>
                      </a:endParaRPr>
                    </a:p>
                  </a:txBody>
                  <a:tcPr marL="152400" marR="152400" marT="114300" marB="1143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6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08000">
                <a:tc>
                  <a:txBody>
                    <a:bodyPr/>
                    <a:lstStyle/>
                    <a:p>
                      <a:pPr indent="0" marL="0">
                        <a:lnSpc>
                          <a:spcPts val="2100"/>
                        </a:lnSpc>
                        <a:buNone/>
                      </a:pPr>
                      <a:r>
                        <a:rPr lang="en-US" sz="1500" dirty="0">
                          <a:solidFill>
                            <a:srgbClr val="161A23"/>
                          </a:solidFill>
                          <a:latin typeface="DM Sans" pitchFamily="34" charset="0"/>
                          <a:ea typeface="DM Sans" pitchFamily="34" charset="-122"/>
                          <a:cs typeface="DM Sans" pitchFamily="34" charset="-120"/>
                        </a:rPr>
                        <a:t>Who sees progress</a:t>
                      </a:r>
                      <a:endParaRPr lang="en-US" sz="1500" dirty="0">
                        <a:latin typeface="DM Sans" charset="0"/>
                        <a:ea typeface="DM Sans" charset="0"/>
                        <a:cs typeface="DM Sans" charset="0"/>
                      </a:endParaRPr>
                    </a:p>
                  </a:txBody>
                  <a:tcPr marL="152400" marR="152400" marT="114300" marB="114300" anchor="t">
                    <a:lnL w="12700" cap="flat" cmpd="sng" algn="ctr">
                      <a:solidFill>
                        <a:srgbClr val="C4C2BE"/>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indent="0" marL="0">
                        <a:lnSpc>
                          <a:spcPts val="2100"/>
                        </a:lnSpc>
                        <a:buNone/>
                      </a:pPr>
                      <a:r>
                        <a:rPr lang="en-US" sz="1500" dirty="0">
                          <a:solidFill>
                            <a:srgbClr val="4A4F5C"/>
                          </a:solidFill>
                          <a:latin typeface="DM Sans" pitchFamily="34" charset="0"/>
                          <a:ea typeface="DM Sans" pitchFamily="34" charset="-122"/>
                          <a:cs typeface="DM Sans" pitchFamily="34" charset="-120"/>
                        </a:rPr>
                        <a:t>Only you</a:t>
                      </a:r>
                      <a:endParaRPr lang="en-US" sz="1500" dirty="0">
                        <a:latin typeface="DM Sans" charset="0"/>
                        <a:ea typeface="DM Sans" charset="0"/>
                        <a:cs typeface="DM Sans" charset="0"/>
                      </a:endParaRPr>
                    </a:p>
                  </a:txBody>
                  <a:tcPr marL="152400" marR="152400" marT="114300" marB="1143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indent="0" marL="0">
                        <a:lnSpc>
                          <a:spcPts val="2100"/>
                        </a:lnSpc>
                        <a:buNone/>
                      </a:pPr>
                      <a:r>
                        <a:rPr lang="en-US" sz="1500" dirty="0">
                          <a:solidFill>
                            <a:srgbClr val="161A23"/>
                          </a:solidFill>
                          <a:latin typeface="DM Sans" pitchFamily="34" charset="0"/>
                          <a:ea typeface="DM Sans" pitchFamily="34" charset="-122"/>
                          <a:cs typeface="DM Sans" pitchFamily="34" charset="-120"/>
                        </a:rPr>
                        <a:t>Your friends, on a feed and calendar</a:t>
                      </a:r>
                      <a:endParaRPr lang="en-US" sz="1500" dirty="0">
                        <a:latin typeface="DM Sans" charset="0"/>
                        <a:ea typeface="DM Sans" charset="0"/>
                        <a:cs typeface="DM Sans" charset="0"/>
                      </a:endParaRPr>
                    </a:p>
                  </a:txBody>
                  <a:tcPr marL="152400" marR="152400" marT="114300" marB="1143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r>
              <a:tr h="508000">
                <a:tc>
                  <a:txBody>
                    <a:bodyPr/>
                    <a:lstStyle/>
                    <a:p>
                      <a:pPr indent="0" marL="0">
                        <a:lnSpc>
                          <a:spcPts val="2100"/>
                        </a:lnSpc>
                        <a:buNone/>
                      </a:pPr>
                      <a:r>
                        <a:rPr lang="en-US" sz="1500" dirty="0">
                          <a:solidFill>
                            <a:srgbClr val="161A23"/>
                          </a:solidFill>
                          <a:latin typeface="DM Sans" pitchFamily="34" charset="0"/>
                          <a:ea typeface="DM Sans" pitchFamily="34" charset="-122"/>
                          <a:cs typeface="DM Sans" pitchFamily="34" charset="-120"/>
                        </a:rPr>
                        <a:t>Cost of skipping</a:t>
                      </a:r>
                      <a:endParaRPr lang="en-US" sz="1500" dirty="0">
                        <a:latin typeface="DM Sans" charset="0"/>
                        <a:ea typeface="DM Sans" charset="0"/>
                        <a:cs typeface="DM Sans" charset="0"/>
                      </a:endParaRPr>
                    </a:p>
                  </a:txBody>
                  <a:tcPr marL="152400" marR="152400" marT="114300" marB="1143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4A4F5C"/>
                          </a:solidFill>
                          <a:latin typeface="DM Sans" pitchFamily="34" charset="0"/>
                          <a:ea typeface="DM Sans" pitchFamily="34" charset="-122"/>
                          <a:cs typeface="DM Sans" pitchFamily="34" charset="-120"/>
                        </a:rPr>
                        <a:t>Nothing</a:t>
                      </a:r>
                      <a:endParaRPr lang="en-US" sz="1500" dirty="0">
                        <a:latin typeface="DM Sans" charset="0"/>
                        <a:ea typeface="DM Sans" charset="0"/>
                        <a:cs typeface="DM Sans" charset="0"/>
                      </a:endParaRPr>
                    </a:p>
                  </a:txBody>
                  <a:tcPr marL="152400" marR="152400" marT="114300" marB="1143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2100"/>
                        </a:lnSpc>
                        <a:buNone/>
                      </a:pPr>
                      <a:r>
                        <a:rPr lang="en-US" sz="1500" dirty="0">
                          <a:solidFill>
                            <a:srgbClr val="161A23"/>
                          </a:solidFill>
                          <a:latin typeface="DM Sans" pitchFamily="34" charset="0"/>
                          <a:ea typeface="DM Sans" pitchFamily="34" charset="-122"/>
                          <a:cs typeface="DM Sans" pitchFamily="34" charset="-120"/>
                        </a:rPr>
                        <a:t>Your stake photo is posted</a:t>
                      </a:r>
                      <a:endParaRPr lang="en-US" sz="1500" dirty="0">
                        <a:latin typeface="DM Sans" charset="0"/>
                        <a:ea typeface="DM Sans" charset="0"/>
                        <a:cs typeface="DM Sans" charset="0"/>
                      </a:endParaRPr>
                    </a:p>
                  </a:txBody>
                  <a:tcPr marL="152400" marR="152400" marT="114300" marB="1143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774700">
                <a:tc>
                  <a:txBody>
                    <a:bodyPr/>
                    <a:lstStyle/>
                    <a:p>
                      <a:pPr indent="0" marL="0">
                        <a:lnSpc>
                          <a:spcPts val="2100"/>
                        </a:lnSpc>
                        <a:buNone/>
                      </a:pPr>
                      <a:r>
                        <a:rPr lang="en-US" sz="1500" dirty="0">
                          <a:solidFill>
                            <a:srgbClr val="161A23"/>
                          </a:solidFill>
                          <a:latin typeface="DM Sans" pitchFamily="34" charset="0"/>
                          <a:ea typeface="DM Sans" pitchFamily="34" charset="-122"/>
                          <a:cs typeface="DM Sans" pitchFamily="34" charset="-120"/>
                        </a:rPr>
                        <a:t>Proof of completion</a:t>
                      </a:r>
                      <a:endParaRPr lang="en-US" sz="1500" dirty="0">
                        <a:latin typeface="DM Sans" charset="0"/>
                        <a:ea typeface="DM Sans" charset="0"/>
                        <a:cs typeface="DM Sans" charset="0"/>
                      </a:endParaRPr>
                    </a:p>
                  </a:txBody>
                  <a:tcPr marL="152400" marR="152400" marT="114300" marB="114300" anchor="t">
                    <a:lnL w="12700" cap="flat" cmpd="sng" algn="ctr">
                      <a:solidFill>
                        <a:srgbClr val="C4C2BE"/>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indent="0" marL="0">
                        <a:lnSpc>
                          <a:spcPts val="2100"/>
                        </a:lnSpc>
                        <a:buNone/>
                      </a:pPr>
                      <a:r>
                        <a:rPr lang="en-US" sz="1500" dirty="0">
                          <a:solidFill>
                            <a:srgbClr val="4A4F5C"/>
                          </a:solidFill>
                          <a:latin typeface="DM Sans" pitchFamily="34" charset="0"/>
                          <a:ea typeface="DM Sans" pitchFamily="34" charset="-122"/>
                          <a:cs typeface="DM Sans" pitchFamily="34" charset="-120"/>
                        </a:rPr>
                        <a:t>Tap a checkbox</a:t>
                      </a:r>
                      <a:endParaRPr lang="en-US" sz="1500" dirty="0">
                        <a:latin typeface="DM Sans" charset="0"/>
                        <a:ea typeface="DM Sans" charset="0"/>
                        <a:cs typeface="DM Sans" charset="0"/>
                      </a:endParaRPr>
                    </a:p>
                  </a:txBody>
                  <a:tcPr marL="152400" marR="152400" marT="114300" marB="1143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indent="0" marL="0">
                        <a:lnSpc>
                          <a:spcPts val="2100"/>
                        </a:lnSpc>
                        <a:buNone/>
                      </a:pPr>
                      <a:r>
                        <a:rPr lang="en-US" sz="1500" dirty="0">
                          <a:solidFill>
                            <a:srgbClr val="161A23"/>
                          </a:solidFill>
                          <a:latin typeface="DM Sans" pitchFamily="34" charset="0"/>
                          <a:ea typeface="DM Sans" pitchFamily="34" charset="-122"/>
                          <a:cs typeface="DM Sans" pitchFamily="34" charset="-120"/>
                        </a:rPr>
                        <a:t>Timestamped photo, flaggable by friends</a:t>
                      </a:r>
                      <a:endParaRPr lang="en-US" sz="1500" dirty="0">
                        <a:latin typeface="DM Sans" charset="0"/>
                        <a:ea typeface="DM Sans" charset="0"/>
                        <a:cs typeface="DM Sans" charset="0"/>
                      </a:endParaRPr>
                    </a:p>
                  </a:txBody>
                  <a:tcPr marL="152400" marR="152400" marT="114300" marB="1143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r>
            </a:tbl>
          </a:graphicData>
        </a:graphic>
      </p:graphicFrame>
      <p:sp>
        <p:nvSpPr>
          <p:cNvPr id="5" name="Text 2"/>
          <p:cNvSpPr/>
          <p:nvPr/>
        </p:nvSpPr>
        <p:spPr>
          <a:xfrm>
            <a:off x="812800" y="4876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C"/>
                </a:solidFill>
                <a:latin typeface="DM Sans" pitchFamily="34" charset="0"/>
                <a:ea typeface="DM Sans" pitchFamily="34" charset="-122"/>
                <a:cs typeface="DM Sans" pitchFamily="34" charset="-120"/>
              </a:rPr>
              <a:t>For people who want to be more productive, Stake makes progress visible to friends and puts a personal stake on every goal.</a:t>
            </a:r>
            <a:endParaRPr lang="en-US" sz="1400" dirty="0"/>
          </a:p>
        </p:txBody>
      </p:sp>
      <p:sp>
        <p:nvSpPr>
          <p:cNvPr id="6" name="Text 3"/>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A"/>
                </a:solidFill>
                <a:latin typeface="DM Sans" pitchFamily="34" charset="0"/>
                <a:ea typeface="DM Sans" pitchFamily="34" charset="-122"/>
                <a:cs typeface="DM Sans" pitchFamily="34" charset="-120"/>
              </a:rPr>
              <a:t>Stake · Productivity Masters   05 / 15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31E"/>
                </a:solidFill>
                <a:latin typeface="DM Sans" pitchFamily="34" charset="0"/>
                <a:ea typeface="DM Sans" pitchFamily="34" charset="-122"/>
                <a:cs typeface="DM Sans" pitchFamily="34" charset="-120"/>
              </a:rPr>
              <a:t>USER STORIES</a:t>
            </a:r>
            <a:endParaRPr lang="en-US" sz="1200" dirty="0"/>
          </a:p>
        </p:txBody>
      </p:sp>
      <p:sp>
        <p:nvSpPr>
          <p:cNvPr id="3" name="Text 1"/>
          <p:cNvSpPr/>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1A23"/>
                </a:solidFill>
                <a:latin typeface="Space Grotesk" pitchFamily="34" charset="0"/>
                <a:ea typeface="Space Grotesk" pitchFamily="34" charset="-122"/>
                <a:cs typeface="Space Grotesk" pitchFamily="34" charset="-120"/>
              </a:rPr>
              <a:t>Built around four real users</a:t>
            </a:r>
            <a:endParaRPr lang="en-US" sz="3200" dirty="0"/>
          </a:p>
        </p:txBody>
      </p:sp>
      <p:sp>
        <p:nvSpPr>
          <p:cNvPr id="4" name="Shape 2"/>
          <p:cNvSpPr/>
          <p:nvPr/>
        </p:nvSpPr>
        <p:spPr>
          <a:xfrm>
            <a:off x="815975" y="1806575"/>
            <a:ext cx="5200650" cy="1469390"/>
          </a:xfrm>
          <a:prstGeom prst="roundRect">
            <a:avLst>
              <a:gd name="adj" fmla="val 8427"/>
            </a:avLst>
          </a:prstGeom>
          <a:solidFill>
            <a:srgbClr val="FFFDFA"/>
          </a:solidFill>
          <a:ln w="6350">
            <a:solidFill>
              <a:srgbClr val="E2DBCF"/>
            </a:solidFill>
            <a:prstDash val="solid"/>
          </a:ln>
        </p:spPr>
      </p:sp>
      <p:sp>
        <p:nvSpPr>
          <p:cNvPr id="5" name="Text 3"/>
          <p:cNvSpPr/>
          <p:nvPr/>
        </p:nvSpPr>
        <p:spPr>
          <a:xfrm>
            <a:off x="1021080" y="2011682"/>
            <a:ext cx="493415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31E"/>
                </a:solidFill>
                <a:latin typeface="DM Sans" pitchFamily="34" charset="0"/>
                <a:ea typeface="DM Sans" pitchFamily="34" charset="-122"/>
                <a:cs typeface="DM Sans" pitchFamily="34" charset="-120"/>
              </a:rPr>
              <a:t>YOUNG ADULT</a:t>
            </a:r>
            <a:endParaRPr lang="en-US" sz="1200" dirty="0"/>
          </a:p>
        </p:txBody>
      </p:sp>
      <p:sp>
        <p:nvSpPr>
          <p:cNvPr id="6" name="Text 4"/>
          <p:cNvSpPr/>
          <p:nvPr/>
        </p:nvSpPr>
        <p:spPr>
          <a:xfrm>
            <a:off x="1021080" y="2301239"/>
            <a:ext cx="4934153"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1A23"/>
                </a:solidFill>
                <a:latin typeface="DM Sans" pitchFamily="34" charset="0"/>
                <a:ea typeface="DM Sans" pitchFamily="34" charset="-122"/>
                <a:cs typeface="DM Sans" pitchFamily="34" charset="-120"/>
              </a:rPr>
              <a:t>“I want accountability for going to the gym, so that I can be healthier.”</a:t>
            </a:r>
            <a:endParaRPr lang="en-US" sz="1400" dirty="0"/>
          </a:p>
        </p:txBody>
      </p:sp>
      <p:sp>
        <p:nvSpPr>
          <p:cNvPr id="7" name="Text 5"/>
          <p:cNvSpPr/>
          <p:nvPr/>
        </p:nvSpPr>
        <p:spPr>
          <a:xfrm>
            <a:off x="1021080" y="2857500"/>
            <a:ext cx="49341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4F5C"/>
                </a:solidFill>
                <a:latin typeface="DM Sans" pitchFamily="34" charset="0"/>
                <a:ea typeface="DM Sans" pitchFamily="34" charset="-122"/>
                <a:cs typeface="DM Sans" pitchFamily="34" charset="-120"/>
              </a:rPr>
              <a:t>Done when:</a:t>
            </a:r>
            <a:r>
              <a:rPr lang="en-US" sz="1200" dirty="0">
                <a:solidFill>
                  <a:srgbClr val="4A4F5C"/>
                </a:solidFill>
                <a:latin typeface="DM Sans" pitchFamily="34" charset="0"/>
                <a:ea typeface="DM Sans" pitchFamily="34" charset="-122"/>
                <a:cs typeface="DM Sans" pitchFamily="34" charset="-120"/>
              </a:rPr>
              <a:t> a missed check-in posts my stake to friends.</a:t>
            </a:r>
            <a:endParaRPr lang="en-US" sz="1200" dirty="0"/>
          </a:p>
        </p:txBody>
      </p:sp>
      <p:sp>
        <p:nvSpPr>
          <p:cNvPr id="8" name="Shape 6"/>
          <p:cNvSpPr/>
          <p:nvPr/>
        </p:nvSpPr>
        <p:spPr>
          <a:xfrm>
            <a:off x="6175375" y="1806575"/>
            <a:ext cx="5200650" cy="1469390"/>
          </a:xfrm>
          <a:prstGeom prst="roundRect">
            <a:avLst>
              <a:gd name="adj" fmla="val 8427"/>
            </a:avLst>
          </a:prstGeom>
          <a:solidFill>
            <a:srgbClr val="FFFDFA"/>
          </a:solidFill>
          <a:ln w="6350">
            <a:solidFill>
              <a:srgbClr val="E2DBCF"/>
            </a:solidFill>
            <a:prstDash val="solid"/>
          </a:ln>
        </p:spPr>
      </p:sp>
      <p:sp>
        <p:nvSpPr>
          <p:cNvPr id="9" name="Text 7"/>
          <p:cNvSpPr/>
          <p:nvPr/>
        </p:nvSpPr>
        <p:spPr>
          <a:xfrm>
            <a:off x="6380480" y="2011682"/>
            <a:ext cx="493415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31E"/>
                </a:solidFill>
                <a:latin typeface="DM Sans" pitchFamily="34" charset="0"/>
                <a:ea typeface="DM Sans" pitchFamily="34" charset="-122"/>
                <a:cs typeface="DM Sans" pitchFamily="34" charset="-120"/>
              </a:rPr>
              <a:t>ATHLETE</a:t>
            </a:r>
            <a:endParaRPr lang="en-US" sz="1200" dirty="0"/>
          </a:p>
        </p:txBody>
      </p:sp>
      <p:sp>
        <p:nvSpPr>
          <p:cNvPr id="10" name="Text 8"/>
          <p:cNvSpPr/>
          <p:nvPr/>
        </p:nvSpPr>
        <p:spPr>
          <a:xfrm>
            <a:off x="6380480" y="2301239"/>
            <a:ext cx="4934153"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1A23"/>
                </a:solidFill>
                <a:latin typeface="DM Sans" pitchFamily="34" charset="0"/>
                <a:ea typeface="DM Sans" pitchFamily="34" charset="-122"/>
                <a:cs typeface="DM Sans" pitchFamily="34" charset="-120"/>
              </a:rPr>
              <a:t>“I want to see my progress and my friends' milestones, so I keep up with my goals.”</a:t>
            </a:r>
            <a:endParaRPr lang="en-US" sz="1400" dirty="0"/>
          </a:p>
        </p:txBody>
      </p:sp>
      <p:sp>
        <p:nvSpPr>
          <p:cNvPr id="11" name="Text 9"/>
          <p:cNvSpPr/>
          <p:nvPr/>
        </p:nvSpPr>
        <p:spPr>
          <a:xfrm>
            <a:off x="6380480" y="2857500"/>
            <a:ext cx="49341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4F5C"/>
                </a:solidFill>
                <a:latin typeface="DM Sans" pitchFamily="34" charset="0"/>
                <a:ea typeface="DM Sans" pitchFamily="34" charset="-122"/>
                <a:cs typeface="DM Sans" pitchFamily="34" charset="-120"/>
              </a:rPr>
              <a:t>Done when:</a:t>
            </a:r>
            <a:r>
              <a:rPr lang="en-US" sz="1200" dirty="0">
                <a:solidFill>
                  <a:srgbClr val="4A4F5C"/>
                </a:solidFill>
                <a:latin typeface="DM Sans" pitchFamily="34" charset="0"/>
                <a:ea typeface="DM Sans" pitchFamily="34" charset="-122"/>
                <a:cs typeface="DM Sans" pitchFamily="34" charset="-120"/>
              </a:rPr>
              <a:t> the feed shows goals met and photos of goals failed.</a:t>
            </a:r>
            <a:endParaRPr lang="en-US" sz="1200" dirty="0"/>
          </a:p>
        </p:txBody>
      </p:sp>
      <p:sp>
        <p:nvSpPr>
          <p:cNvPr id="12" name="Shape 10"/>
          <p:cNvSpPr/>
          <p:nvPr/>
        </p:nvSpPr>
        <p:spPr>
          <a:xfrm>
            <a:off x="815975" y="3434714"/>
            <a:ext cx="5200650" cy="1469390"/>
          </a:xfrm>
          <a:prstGeom prst="roundRect">
            <a:avLst>
              <a:gd name="adj" fmla="val 8427"/>
            </a:avLst>
          </a:prstGeom>
          <a:solidFill>
            <a:srgbClr val="FFFDFA"/>
          </a:solidFill>
          <a:ln w="6350">
            <a:solidFill>
              <a:srgbClr val="E2DBCF"/>
            </a:solidFill>
            <a:prstDash val="solid"/>
          </a:ln>
        </p:spPr>
      </p:sp>
      <p:sp>
        <p:nvSpPr>
          <p:cNvPr id="13" name="Text 11"/>
          <p:cNvSpPr/>
          <p:nvPr/>
        </p:nvSpPr>
        <p:spPr>
          <a:xfrm>
            <a:off x="1021080" y="3639821"/>
            <a:ext cx="493415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31E"/>
                </a:solidFill>
                <a:latin typeface="DM Sans" pitchFamily="34" charset="0"/>
                <a:ea typeface="DM Sans" pitchFamily="34" charset="-122"/>
                <a:cs typeface="DM Sans" pitchFamily="34" charset="-120"/>
              </a:rPr>
              <a:t>STUDENT</a:t>
            </a:r>
            <a:endParaRPr lang="en-US" sz="1200" dirty="0"/>
          </a:p>
        </p:txBody>
      </p:sp>
      <p:sp>
        <p:nvSpPr>
          <p:cNvPr id="14" name="Text 12"/>
          <p:cNvSpPr/>
          <p:nvPr/>
        </p:nvSpPr>
        <p:spPr>
          <a:xfrm>
            <a:off x="1021080" y="3929382"/>
            <a:ext cx="4934153"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1A23"/>
                </a:solidFill>
                <a:latin typeface="DM Sans" pitchFamily="34" charset="0"/>
                <a:ea typeface="DM Sans" pitchFamily="34" charset="-122"/>
                <a:cs typeface="DM Sans" pitchFamily="34" charset="-120"/>
              </a:rPr>
              <a:t>“I want to stay ahead of my courses, so I stop cramming at the last minute.”</a:t>
            </a:r>
            <a:endParaRPr lang="en-US" sz="1400" dirty="0"/>
          </a:p>
        </p:txBody>
      </p:sp>
      <p:sp>
        <p:nvSpPr>
          <p:cNvPr id="15" name="Text 13"/>
          <p:cNvSpPr/>
          <p:nvPr/>
        </p:nvSpPr>
        <p:spPr>
          <a:xfrm>
            <a:off x="1021080" y="4485639"/>
            <a:ext cx="49341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4F5C"/>
                </a:solidFill>
                <a:latin typeface="DM Sans" pitchFamily="34" charset="0"/>
                <a:ea typeface="DM Sans" pitchFamily="34" charset="-122"/>
                <a:cs typeface="DM Sans" pitchFamily="34" charset="-120"/>
              </a:rPr>
              <a:t>Done when:</a:t>
            </a:r>
            <a:r>
              <a:rPr lang="en-US" sz="1200" dirty="0">
                <a:solidFill>
                  <a:srgbClr val="4A4F5C"/>
                </a:solidFill>
                <a:latin typeface="DM Sans" pitchFamily="34" charset="0"/>
                <a:ea typeface="DM Sans" pitchFamily="34" charset="-122"/>
                <a:cs typeface="DM Sans" pitchFamily="34" charset="-120"/>
              </a:rPr>
              <a:t> I can register, log in, log out and set a goal.</a:t>
            </a:r>
            <a:endParaRPr lang="en-US" sz="1200" dirty="0"/>
          </a:p>
        </p:txBody>
      </p:sp>
      <p:sp>
        <p:nvSpPr>
          <p:cNvPr id="16" name="Shape 14"/>
          <p:cNvSpPr/>
          <p:nvPr/>
        </p:nvSpPr>
        <p:spPr>
          <a:xfrm>
            <a:off x="6175375" y="3434714"/>
            <a:ext cx="5200650" cy="1469390"/>
          </a:xfrm>
          <a:prstGeom prst="roundRect">
            <a:avLst>
              <a:gd name="adj" fmla="val 8427"/>
            </a:avLst>
          </a:prstGeom>
          <a:solidFill>
            <a:srgbClr val="FFFDFA"/>
          </a:solidFill>
          <a:ln w="6350">
            <a:solidFill>
              <a:srgbClr val="E2DBCF"/>
            </a:solidFill>
            <a:prstDash val="solid"/>
          </a:ln>
        </p:spPr>
      </p:sp>
      <p:sp>
        <p:nvSpPr>
          <p:cNvPr id="17" name="Text 15"/>
          <p:cNvSpPr/>
          <p:nvPr/>
        </p:nvSpPr>
        <p:spPr>
          <a:xfrm>
            <a:off x="6380480" y="3639821"/>
            <a:ext cx="493415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31E"/>
                </a:solidFill>
                <a:latin typeface="DM Sans" pitchFamily="34" charset="0"/>
                <a:ea typeface="DM Sans" pitchFamily="34" charset="-122"/>
                <a:cs typeface="DM Sans" pitchFamily="34" charset="-120"/>
              </a:rPr>
              <a:t>ADMIN</a:t>
            </a:r>
            <a:endParaRPr lang="en-US" sz="1200" dirty="0"/>
          </a:p>
        </p:txBody>
      </p:sp>
      <p:sp>
        <p:nvSpPr>
          <p:cNvPr id="18" name="Text 16"/>
          <p:cNvSpPr/>
          <p:nvPr/>
        </p:nvSpPr>
        <p:spPr>
          <a:xfrm>
            <a:off x="6380480" y="3929382"/>
            <a:ext cx="4934153"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1A23"/>
                </a:solidFill>
                <a:latin typeface="DM Sans" pitchFamily="34" charset="0"/>
                <a:ea typeface="DM Sans" pitchFamily="34" charset="-122"/>
                <a:cs typeface="DM Sans" pitchFamily="34" charset="-120"/>
              </a:rPr>
              <a:t>“I want the platform to be safe, so that users don't break the rules.”</a:t>
            </a:r>
            <a:endParaRPr lang="en-US" sz="1400" dirty="0"/>
          </a:p>
        </p:txBody>
      </p:sp>
      <p:sp>
        <p:nvSpPr>
          <p:cNvPr id="19" name="Text 17"/>
          <p:cNvSpPr/>
          <p:nvPr/>
        </p:nvSpPr>
        <p:spPr>
          <a:xfrm>
            <a:off x="6380480" y="4485639"/>
            <a:ext cx="49341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4F5C"/>
                </a:solidFill>
                <a:latin typeface="DM Sans" pitchFamily="34" charset="0"/>
                <a:ea typeface="DM Sans" pitchFamily="34" charset="-122"/>
                <a:cs typeface="DM Sans" pitchFamily="34" charset="-120"/>
              </a:rPr>
              <a:t>Done when:</a:t>
            </a:r>
            <a:r>
              <a:rPr lang="en-US" sz="1200" dirty="0">
                <a:solidFill>
                  <a:srgbClr val="4A4F5C"/>
                </a:solidFill>
                <a:latin typeface="DM Sans" pitchFamily="34" charset="0"/>
                <a:ea typeface="DM Sans" pitchFamily="34" charset="-122"/>
                <a:cs typeface="DM Sans" pitchFamily="34" charset="-120"/>
              </a:rPr>
              <a:t> I can view reports and remove images or ban users.</a:t>
            </a:r>
            <a:endParaRPr lang="en-US" sz="1200" dirty="0"/>
          </a:p>
        </p:txBody>
      </p:sp>
      <p:sp>
        <p:nvSpPr>
          <p:cNvPr id="20" name="Text 18"/>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A"/>
                </a:solidFill>
                <a:latin typeface="DM Sans" pitchFamily="34" charset="0"/>
                <a:ea typeface="DM Sans" pitchFamily="34" charset="-122"/>
                <a:cs typeface="DM Sans" pitchFamily="34" charset="-120"/>
              </a:rPr>
              <a:t>Stake · Productivity Masters   06 / 15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31E"/>
                </a:solidFill>
                <a:latin typeface="DM Sans" pitchFamily="34" charset="0"/>
                <a:ea typeface="DM Sans" pitchFamily="34" charset="-122"/>
                <a:cs typeface="DM Sans" pitchFamily="34" charset="-120"/>
              </a:rPr>
              <a:t>LANGUAGES, FRAMEWORKS &amp; TOOLS</a:t>
            </a:r>
            <a:endParaRPr lang="en-US" sz="1200" dirty="0"/>
          </a:p>
        </p:txBody>
      </p:sp>
      <p:sp>
        <p:nvSpPr>
          <p:cNvPr id="3" name="Text 1"/>
          <p:cNvSpPr/>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1A23"/>
                </a:solidFill>
                <a:latin typeface="Space Grotesk" pitchFamily="34" charset="0"/>
                <a:ea typeface="Space Grotesk" pitchFamily="34" charset="-122"/>
                <a:cs typeface="Space Grotesk" pitchFamily="34" charset="-120"/>
              </a:rPr>
              <a:t>The PERN stack, end to end in JavaScript</a:t>
            </a:r>
            <a:endParaRPr lang="en-US" sz="3200" dirty="0"/>
          </a:p>
        </p:txBody>
      </p:sp>
      <p:sp>
        <p:nvSpPr>
          <p:cNvPr id="4" name="Shape 2"/>
          <p:cNvSpPr/>
          <p:nvPr/>
        </p:nvSpPr>
        <p:spPr>
          <a:xfrm>
            <a:off x="815975" y="1806575"/>
            <a:ext cx="2501900" cy="2193290"/>
          </a:xfrm>
          <a:prstGeom prst="roundRect">
            <a:avLst>
              <a:gd name="adj" fmla="val 5646"/>
            </a:avLst>
          </a:prstGeom>
          <a:solidFill>
            <a:srgbClr val="FFFDFA"/>
          </a:solidFill>
          <a:ln w="6350">
            <a:solidFill>
              <a:srgbClr val="E2DBCF"/>
            </a:solidFill>
            <a:prstDash val="solid"/>
          </a:ln>
        </p:spPr>
      </p:sp>
      <p:pic>
        <p:nvPicPr>
          <p:cNvPr id="5" name="Image 0" descr="Globe">    </p:cNvPr>
          <p:cNvPicPr>
            <a:picLocks noChangeAspect="1"/>
          </p:cNvPicPr>
          <p:nvPr/>
        </p:nvPicPr>
        <p:blipFill>
          <a:blip r:embed="rId1"/>
          <a:srcRect l="0" r="0" t="0" b="0"/>
          <a:stretch/>
        </p:blipFill>
        <p:spPr>
          <a:xfrm>
            <a:off x="1021080" y="2011682"/>
            <a:ext cx="355600" cy="355600"/>
          </a:xfrm>
          <a:prstGeom prst="rect">
            <a:avLst/>
          </a:prstGeom>
        </p:spPr>
      </p:pic>
      <p:sp>
        <p:nvSpPr>
          <p:cNvPr id="6" name="Text 3"/>
          <p:cNvSpPr/>
          <p:nvPr/>
        </p:nvSpPr>
        <p:spPr>
          <a:xfrm>
            <a:off x="1021080" y="2443482"/>
            <a:ext cx="215444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1A23"/>
                </a:solidFill>
                <a:latin typeface="Space Grotesk" pitchFamily="34" charset="0"/>
                <a:ea typeface="Space Grotesk" pitchFamily="34" charset="-122"/>
                <a:cs typeface="Space Grotesk" pitchFamily="34" charset="-120"/>
              </a:rPr>
              <a:t>Frontend</a:t>
            </a:r>
            <a:endParaRPr lang="en-US" sz="2000" dirty="0"/>
          </a:p>
        </p:txBody>
      </p:sp>
      <p:sp>
        <p:nvSpPr>
          <p:cNvPr id="7" name="Text 4"/>
          <p:cNvSpPr/>
          <p:nvPr/>
        </p:nvSpPr>
        <p:spPr>
          <a:xfrm>
            <a:off x="1021080" y="2824482"/>
            <a:ext cx="215444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1A23"/>
                </a:solidFill>
                <a:latin typeface="DM Sans" pitchFamily="34" charset="0"/>
                <a:ea typeface="DM Sans" pitchFamily="34" charset="-122"/>
                <a:cs typeface="DM Sans" pitchFamily="34" charset="-120"/>
              </a:rPr>
              <a:t>React · HTML · CSS</a:t>
            </a:r>
            <a:endParaRPr lang="en-US" sz="1300" dirty="0"/>
          </a:p>
        </p:txBody>
      </p:sp>
      <p:sp>
        <p:nvSpPr>
          <p:cNvPr id="8" name="Text 5"/>
          <p:cNvSpPr/>
          <p:nvPr/>
        </p:nvSpPr>
        <p:spPr>
          <a:xfrm>
            <a:off x="1021080" y="3131821"/>
            <a:ext cx="2154441"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4F5C"/>
                </a:solidFill>
                <a:latin typeface="DM Sans" pitchFamily="34" charset="0"/>
                <a:ea typeface="DM Sans" pitchFamily="34" charset="-122"/>
                <a:cs typeface="DM Sans" pitchFamily="34" charset="-120"/>
              </a:rPr>
              <a:t>Reusable components for photo cards, goal calendars and the feed.</a:t>
            </a:r>
            <a:endParaRPr lang="en-US" sz="1200" dirty="0"/>
          </a:p>
        </p:txBody>
      </p:sp>
      <p:sp>
        <p:nvSpPr>
          <p:cNvPr id="9" name="Shape 6"/>
          <p:cNvSpPr/>
          <p:nvPr/>
        </p:nvSpPr>
        <p:spPr>
          <a:xfrm>
            <a:off x="3502025" y="1806575"/>
            <a:ext cx="2501900" cy="2193290"/>
          </a:xfrm>
          <a:prstGeom prst="roundRect">
            <a:avLst>
              <a:gd name="adj" fmla="val 5646"/>
            </a:avLst>
          </a:prstGeom>
          <a:solidFill>
            <a:srgbClr val="FFFDFA"/>
          </a:solidFill>
          <a:ln w="6350">
            <a:solidFill>
              <a:srgbClr val="E2DBCF"/>
            </a:solidFill>
            <a:prstDash val="solid"/>
          </a:ln>
        </p:spPr>
      </p:sp>
      <p:pic>
        <p:nvPicPr>
          <p:cNvPr id="10" name="Image 1" descr="Settings">    </p:cNvPr>
          <p:cNvPicPr>
            <a:picLocks noChangeAspect="1"/>
          </p:cNvPicPr>
          <p:nvPr/>
        </p:nvPicPr>
        <p:blipFill>
          <a:blip r:embed="rId2"/>
          <a:srcRect l="0" r="0" t="0" b="0"/>
          <a:stretch/>
        </p:blipFill>
        <p:spPr>
          <a:xfrm>
            <a:off x="3707130" y="2011682"/>
            <a:ext cx="355600" cy="355600"/>
          </a:xfrm>
          <a:prstGeom prst="rect">
            <a:avLst/>
          </a:prstGeom>
        </p:spPr>
      </p:pic>
      <p:sp>
        <p:nvSpPr>
          <p:cNvPr id="11" name="Text 7"/>
          <p:cNvSpPr/>
          <p:nvPr/>
        </p:nvSpPr>
        <p:spPr>
          <a:xfrm>
            <a:off x="3707130" y="2443482"/>
            <a:ext cx="215444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1A23"/>
                </a:solidFill>
                <a:latin typeface="Space Grotesk" pitchFamily="34" charset="0"/>
                <a:ea typeface="Space Grotesk" pitchFamily="34" charset="-122"/>
                <a:cs typeface="Space Grotesk" pitchFamily="34" charset="-120"/>
              </a:rPr>
              <a:t>Backend</a:t>
            </a:r>
            <a:endParaRPr lang="en-US" sz="2000" dirty="0"/>
          </a:p>
        </p:txBody>
      </p:sp>
      <p:sp>
        <p:nvSpPr>
          <p:cNvPr id="12" name="Text 8"/>
          <p:cNvSpPr/>
          <p:nvPr/>
        </p:nvSpPr>
        <p:spPr>
          <a:xfrm>
            <a:off x="3707130" y="2824482"/>
            <a:ext cx="215444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1A23"/>
                </a:solidFill>
                <a:latin typeface="DM Sans" pitchFamily="34" charset="0"/>
                <a:ea typeface="DM Sans" pitchFamily="34" charset="-122"/>
                <a:cs typeface="DM Sans" pitchFamily="34" charset="-120"/>
              </a:rPr>
              <a:t>Node.js · Express</a:t>
            </a:r>
            <a:endParaRPr lang="en-US" sz="1300" dirty="0"/>
          </a:p>
        </p:txBody>
      </p:sp>
      <p:sp>
        <p:nvSpPr>
          <p:cNvPr id="13" name="Text 9"/>
          <p:cNvSpPr/>
          <p:nvPr/>
        </p:nvSpPr>
        <p:spPr>
          <a:xfrm>
            <a:off x="3707130" y="3131821"/>
            <a:ext cx="2154441"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4F5C"/>
                </a:solidFill>
                <a:latin typeface="DM Sans" pitchFamily="34" charset="0"/>
                <a:ea typeface="DM Sans" pitchFamily="34" charset="-122"/>
                <a:cs typeface="DM Sans" pitchFamily="34" charset="-120"/>
              </a:rPr>
              <a:t>One language across the stack; one API enforces every auth and deadline rule.</a:t>
            </a:r>
            <a:endParaRPr lang="en-US" sz="1200" dirty="0"/>
          </a:p>
        </p:txBody>
      </p:sp>
      <p:sp>
        <p:nvSpPr>
          <p:cNvPr id="14" name="Shape 10"/>
          <p:cNvSpPr/>
          <p:nvPr/>
        </p:nvSpPr>
        <p:spPr>
          <a:xfrm>
            <a:off x="6188075" y="1806575"/>
            <a:ext cx="2501900" cy="2193290"/>
          </a:xfrm>
          <a:prstGeom prst="roundRect">
            <a:avLst>
              <a:gd name="adj" fmla="val 5646"/>
            </a:avLst>
          </a:prstGeom>
          <a:solidFill>
            <a:srgbClr val="FFFDFA"/>
          </a:solidFill>
          <a:ln w="6350">
            <a:solidFill>
              <a:srgbClr val="E2DBCF"/>
            </a:solidFill>
            <a:prstDash val="solid"/>
          </a:ln>
        </p:spPr>
      </p:sp>
      <p:pic>
        <p:nvPicPr>
          <p:cNvPr id="15" name="Image 2" descr="Database">    </p:cNvPr>
          <p:cNvPicPr>
            <a:picLocks noChangeAspect="1"/>
          </p:cNvPicPr>
          <p:nvPr/>
        </p:nvPicPr>
        <p:blipFill>
          <a:blip r:embed="rId3"/>
          <a:srcRect l="0" r="0" t="0" b="0"/>
          <a:stretch/>
        </p:blipFill>
        <p:spPr>
          <a:xfrm>
            <a:off x="6393180" y="2011682"/>
            <a:ext cx="355600" cy="355600"/>
          </a:xfrm>
          <a:prstGeom prst="rect">
            <a:avLst/>
          </a:prstGeom>
        </p:spPr>
      </p:pic>
      <p:sp>
        <p:nvSpPr>
          <p:cNvPr id="16" name="Text 11"/>
          <p:cNvSpPr/>
          <p:nvPr/>
        </p:nvSpPr>
        <p:spPr>
          <a:xfrm>
            <a:off x="6393180" y="2443482"/>
            <a:ext cx="215444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1A23"/>
                </a:solidFill>
                <a:latin typeface="Space Grotesk" pitchFamily="34" charset="0"/>
                <a:ea typeface="Space Grotesk" pitchFamily="34" charset="-122"/>
                <a:cs typeface="Space Grotesk" pitchFamily="34" charset="-120"/>
              </a:rPr>
              <a:t>Database</a:t>
            </a:r>
            <a:endParaRPr lang="en-US" sz="2000" dirty="0"/>
          </a:p>
        </p:txBody>
      </p:sp>
      <p:sp>
        <p:nvSpPr>
          <p:cNvPr id="17" name="Text 12"/>
          <p:cNvSpPr/>
          <p:nvPr/>
        </p:nvSpPr>
        <p:spPr>
          <a:xfrm>
            <a:off x="6393180" y="2824482"/>
            <a:ext cx="215444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1A23"/>
                </a:solidFill>
                <a:latin typeface="DM Sans" pitchFamily="34" charset="0"/>
                <a:ea typeface="DM Sans" pitchFamily="34" charset="-122"/>
                <a:cs typeface="DM Sans" pitchFamily="34" charset="-120"/>
              </a:rPr>
              <a:t>PostgreSQL · SQL</a:t>
            </a:r>
            <a:endParaRPr lang="en-US" sz="1300" dirty="0"/>
          </a:p>
        </p:txBody>
      </p:sp>
      <p:sp>
        <p:nvSpPr>
          <p:cNvPr id="18" name="Text 13"/>
          <p:cNvSpPr/>
          <p:nvPr/>
        </p:nvSpPr>
        <p:spPr>
          <a:xfrm>
            <a:off x="6393180" y="3131821"/>
            <a:ext cx="2154441"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4F5C"/>
                </a:solidFill>
                <a:latin typeface="DM Sans" pitchFamily="34" charset="0"/>
                <a:ea typeface="DM Sans" pitchFamily="34" charset="-122"/>
                <a:cs typeface="DM Sans" pitchFamily="34" charset="-120"/>
              </a:rPr>
              <a:t>Relational data with transactions, so a stake is released exactly once.</a:t>
            </a:r>
            <a:endParaRPr lang="en-US" sz="1200" dirty="0"/>
          </a:p>
        </p:txBody>
      </p:sp>
      <p:sp>
        <p:nvSpPr>
          <p:cNvPr id="19" name="Shape 14"/>
          <p:cNvSpPr/>
          <p:nvPr/>
        </p:nvSpPr>
        <p:spPr>
          <a:xfrm>
            <a:off x="8874125" y="1806575"/>
            <a:ext cx="2501900" cy="2193290"/>
          </a:xfrm>
          <a:prstGeom prst="roundRect">
            <a:avLst>
              <a:gd name="adj" fmla="val 5646"/>
            </a:avLst>
          </a:prstGeom>
          <a:solidFill>
            <a:srgbClr val="FFFDFA"/>
          </a:solidFill>
          <a:ln w="6350">
            <a:solidFill>
              <a:srgbClr val="E2DBCF"/>
            </a:solidFill>
            <a:prstDash val="solid"/>
          </a:ln>
        </p:spPr>
      </p:sp>
      <p:pic>
        <p:nvPicPr>
          <p:cNvPr id="20" name="Image 3" descr="Tool">    </p:cNvPr>
          <p:cNvPicPr>
            <a:picLocks noChangeAspect="1"/>
          </p:cNvPicPr>
          <p:nvPr/>
        </p:nvPicPr>
        <p:blipFill>
          <a:blip r:embed="rId4"/>
          <a:srcRect l="0" r="0" t="0" b="0"/>
          <a:stretch/>
        </p:blipFill>
        <p:spPr>
          <a:xfrm>
            <a:off x="9079230" y="2011682"/>
            <a:ext cx="355600" cy="355600"/>
          </a:xfrm>
          <a:prstGeom prst="rect">
            <a:avLst/>
          </a:prstGeom>
        </p:spPr>
      </p:pic>
      <p:sp>
        <p:nvSpPr>
          <p:cNvPr id="21" name="Text 15"/>
          <p:cNvSpPr/>
          <p:nvPr/>
        </p:nvSpPr>
        <p:spPr>
          <a:xfrm>
            <a:off x="9079230" y="2443482"/>
            <a:ext cx="215444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1A23"/>
                </a:solidFill>
                <a:latin typeface="Space Grotesk" pitchFamily="34" charset="0"/>
                <a:ea typeface="Space Grotesk" pitchFamily="34" charset="-122"/>
                <a:cs typeface="Space Grotesk" pitchFamily="34" charset="-120"/>
              </a:rPr>
              <a:t>Team tools</a:t>
            </a:r>
            <a:endParaRPr lang="en-US" sz="2000" dirty="0"/>
          </a:p>
        </p:txBody>
      </p:sp>
      <p:sp>
        <p:nvSpPr>
          <p:cNvPr id="22" name="Text 16"/>
          <p:cNvSpPr/>
          <p:nvPr/>
        </p:nvSpPr>
        <p:spPr>
          <a:xfrm>
            <a:off x="9079230" y="2824482"/>
            <a:ext cx="215444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1A23"/>
                </a:solidFill>
                <a:latin typeface="DM Sans" pitchFamily="34" charset="0"/>
                <a:ea typeface="DM Sans" pitchFamily="34" charset="-122"/>
                <a:cs typeface="DM Sans" pitchFamily="34" charset="-120"/>
              </a:rPr>
              <a:t>GitHub · Jira</a:t>
            </a:r>
            <a:endParaRPr lang="en-US" sz="1300" dirty="0"/>
          </a:p>
        </p:txBody>
      </p:sp>
      <p:sp>
        <p:nvSpPr>
          <p:cNvPr id="23" name="Text 17"/>
          <p:cNvSpPr/>
          <p:nvPr/>
        </p:nvSpPr>
        <p:spPr>
          <a:xfrm>
            <a:off x="9079230" y="3131821"/>
            <a:ext cx="2154441"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4F5C"/>
                </a:solidFill>
                <a:latin typeface="DM Sans" pitchFamily="34" charset="0"/>
                <a:ea typeface="DM Sans" pitchFamily="34" charset="-122"/>
                <a:cs typeface="DM Sans" pitchFamily="34" charset="-120"/>
              </a:rPr>
              <a:t>Branches and PR reviews in GitHub; backlog, sprints and estimates in Jira.</a:t>
            </a:r>
            <a:endParaRPr lang="en-US" sz="1200" dirty="0"/>
          </a:p>
        </p:txBody>
      </p:sp>
      <p:sp>
        <p:nvSpPr>
          <p:cNvPr id="24" name="Shape 18"/>
          <p:cNvSpPr/>
          <p:nvPr/>
        </p:nvSpPr>
        <p:spPr>
          <a:xfrm>
            <a:off x="812800" y="4257039"/>
            <a:ext cx="10566400" cy="535940"/>
          </a:xfrm>
          <a:prstGeom prst="roundRect">
            <a:avLst>
              <a:gd name="adj" fmla="val 18957"/>
            </a:avLst>
          </a:prstGeom>
          <a:solidFill>
            <a:srgbClr val="EFE9DF"/>
          </a:solidFill>
          <a:ln/>
        </p:spPr>
      </p:sp>
      <p:sp>
        <p:nvSpPr>
          <p:cNvPr id="25" name="Text 19"/>
          <p:cNvSpPr/>
          <p:nvPr/>
        </p:nvSpPr>
        <p:spPr>
          <a:xfrm>
            <a:off x="1016000" y="4409439"/>
            <a:ext cx="1404620" cy="256540"/>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B8431E"/>
                </a:solidFill>
                <a:latin typeface="DM Sans" pitchFamily="34" charset="0"/>
                <a:ea typeface="DM Sans" pitchFamily="34" charset="-122"/>
                <a:cs typeface="DM Sans" pitchFamily="34" charset="-120"/>
              </a:rPr>
              <a:t>Planned libraries</a:t>
            </a:r>
            <a:endParaRPr lang="en-US" sz="1300" dirty="0"/>
          </a:p>
        </p:txBody>
      </p:sp>
      <p:sp>
        <p:nvSpPr>
          <p:cNvPr id="26" name="Text 20"/>
          <p:cNvSpPr/>
          <p:nvPr/>
        </p:nvSpPr>
        <p:spPr>
          <a:xfrm>
            <a:off x="2522220" y="4409439"/>
            <a:ext cx="539783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1A23"/>
                </a:solidFill>
                <a:latin typeface="DM Sans" pitchFamily="34" charset="0"/>
                <a:ea typeface="DM Sans" pitchFamily="34" charset="-122"/>
                <a:cs typeface="DM Sans" pitchFamily="34" charset="-120"/>
              </a:rPr>
              <a:t>React Router · pg (node-postgres) · bcrypt · Multer · node-cron · Jest</a:t>
            </a:r>
            <a:endParaRPr lang="en-US" sz="1300" dirty="0"/>
          </a:p>
        </p:txBody>
      </p:sp>
      <p:sp>
        <p:nvSpPr>
          <p:cNvPr id="27" name="Text 21"/>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A"/>
                </a:solidFill>
                <a:latin typeface="DM Sans" pitchFamily="34" charset="0"/>
                <a:ea typeface="DM Sans" pitchFamily="34" charset="-122"/>
                <a:cs typeface="DM Sans" pitchFamily="34" charset="-120"/>
              </a:rPr>
              <a:t>Stake · Productivity Masters   07 / 15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31E"/>
                </a:solidFill>
                <a:latin typeface="DM Sans" pitchFamily="34" charset="0"/>
                <a:ea typeface="DM Sans" pitchFamily="34" charset="-122"/>
                <a:cs typeface="DM Sans" pitchFamily="34" charset="-120"/>
              </a:rPr>
              <a:t>ARCHITECTURAL DESIGN</a:t>
            </a:r>
            <a:endParaRPr lang="en-US" sz="1200" dirty="0"/>
          </a:p>
        </p:txBody>
      </p:sp>
      <p:sp>
        <p:nvSpPr>
          <p:cNvPr id="3" name="Text 1"/>
          <p:cNvSpPr/>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1A23"/>
                </a:solidFill>
                <a:latin typeface="Space Grotesk" pitchFamily="34" charset="0"/>
                <a:ea typeface="Space Grotesk" pitchFamily="34" charset="-122"/>
                <a:cs typeface="Space Grotesk" pitchFamily="34" charset="-120"/>
              </a:rPr>
              <a:t>System architecture model</a:t>
            </a:r>
            <a:endParaRPr lang="en-US" sz="3200" dirty="0"/>
          </a:p>
        </p:txBody>
      </p:sp>
      <p:sp>
        <p:nvSpPr>
          <p:cNvPr id="4" name="Shape 2"/>
          <p:cNvSpPr/>
          <p:nvPr/>
        </p:nvSpPr>
        <p:spPr>
          <a:xfrm>
            <a:off x="815975" y="1806575"/>
            <a:ext cx="7105650" cy="394335"/>
          </a:xfrm>
          <a:prstGeom prst="roundRect">
            <a:avLst>
              <a:gd name="adj" fmla="val 21739"/>
            </a:avLst>
          </a:prstGeom>
          <a:solidFill>
            <a:srgbClr val="FFFDFA"/>
          </a:solidFill>
          <a:ln w="6350">
            <a:solidFill>
              <a:srgbClr val="E2DBCF"/>
            </a:solidFill>
            <a:prstDash val="solid"/>
          </a:ln>
        </p:spPr>
      </p:sp>
      <p:sp>
        <p:nvSpPr>
          <p:cNvPr id="5" name="Text 3"/>
          <p:cNvSpPr/>
          <p:nvPr/>
        </p:nvSpPr>
        <p:spPr>
          <a:xfrm>
            <a:off x="970280" y="1897063"/>
            <a:ext cx="1638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1A23"/>
                </a:solidFill>
                <a:latin typeface="DM Sans" pitchFamily="34" charset="0"/>
                <a:ea typeface="DM Sans" pitchFamily="34" charset="-122"/>
                <a:cs typeface="DM Sans" pitchFamily="34" charset="-120"/>
              </a:rPr>
              <a:t>Presentation</a:t>
            </a:r>
            <a:endParaRPr lang="en-US" sz="1200" dirty="0"/>
          </a:p>
        </p:txBody>
      </p:sp>
      <p:sp>
        <p:nvSpPr>
          <p:cNvPr id="6" name="Text 4"/>
          <p:cNvSpPr/>
          <p:nvPr/>
        </p:nvSpPr>
        <p:spPr>
          <a:xfrm>
            <a:off x="2710180" y="1897063"/>
            <a:ext cx="48692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C"/>
                </a:solidFill>
                <a:latin typeface="DM Sans" pitchFamily="34" charset="0"/>
                <a:ea typeface="DM Sans" pitchFamily="34" charset="-122"/>
                <a:cs typeface="DM Sans" pitchFamily="34" charset="-120"/>
              </a:rPr>
              <a:t>React in the browser: profile, goal forms, calendar, feed, moderation</a:t>
            </a:r>
            <a:endParaRPr lang="en-US" sz="1200" dirty="0"/>
          </a:p>
        </p:txBody>
      </p:sp>
      <p:sp>
        <p:nvSpPr>
          <p:cNvPr id="7" name="Text 5"/>
          <p:cNvSpPr/>
          <p:nvPr/>
        </p:nvSpPr>
        <p:spPr>
          <a:xfrm>
            <a:off x="706120" y="2280286"/>
            <a:ext cx="7325360" cy="238125"/>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8431E"/>
                </a:solidFill>
                <a:latin typeface="DM Sans" pitchFamily="34" charset="0"/>
                <a:ea typeface="DM Sans" pitchFamily="34" charset="-122"/>
                <a:cs typeface="DM Sans" pitchFamily="34" charset="-120"/>
              </a:rPr>
              <a:t>↓ HTTPS · JSON and photo uploads ↓</a:t>
            </a:r>
            <a:endParaRPr lang="en-US" sz="1200" dirty="0"/>
          </a:p>
        </p:txBody>
      </p:sp>
      <p:sp>
        <p:nvSpPr>
          <p:cNvPr id="8" name="Shape 6"/>
          <p:cNvSpPr/>
          <p:nvPr/>
        </p:nvSpPr>
        <p:spPr>
          <a:xfrm>
            <a:off x="819150" y="2575561"/>
            <a:ext cx="7099300" cy="2545755"/>
          </a:xfrm>
          <a:prstGeom prst="roundRect">
            <a:avLst>
              <a:gd name="adj" fmla="val 4240"/>
            </a:avLst>
          </a:prstGeom>
          <a:noFill/>
          <a:ln w="12700">
            <a:solidFill>
              <a:srgbClr val="B8431E"/>
            </a:solidFill>
            <a:prstDash val="dash"/>
          </a:ln>
        </p:spPr>
      </p:sp>
      <p:sp>
        <p:nvSpPr>
          <p:cNvPr id="9" name="Text 7"/>
          <p:cNvSpPr/>
          <p:nvPr/>
        </p:nvSpPr>
        <p:spPr>
          <a:xfrm>
            <a:off x="939800" y="2696211"/>
            <a:ext cx="7063740" cy="237887"/>
          </a:xfrm>
          <a:prstGeom prst="rect">
            <a:avLst/>
          </a:prstGeom>
          <a:noFill/>
          <a:ln/>
        </p:spPr>
        <p:txBody>
          <a:bodyPr wrap="square" lIns="0" tIns="0" rIns="0" bIns="0" rtlCol="0" anchor="t">
            <a:normAutofit/>
          </a:bodyPr>
          <a:lstStyle/>
          <a:p>
            <a:pPr algn="l" indent="0" marL="0">
              <a:lnSpc>
                <a:spcPts val="1675"/>
              </a:lnSpc>
              <a:buNone/>
            </a:pPr>
            <a:r>
              <a:rPr lang="en-US" sz="1196" b="1" dirty="0">
                <a:solidFill>
                  <a:srgbClr val="B8431E"/>
                </a:solidFill>
                <a:latin typeface="DM Sans" pitchFamily="34" charset="0"/>
                <a:ea typeface="DM Sans" pitchFamily="34" charset="-122"/>
                <a:cs typeface="DM Sans" pitchFamily="34" charset="-120"/>
              </a:rPr>
              <a:t>One Node.js / Express backend (modular monolith)</a:t>
            </a:r>
            <a:endParaRPr lang="en-US" sz="1196" dirty="0"/>
          </a:p>
        </p:txBody>
      </p:sp>
      <p:sp>
        <p:nvSpPr>
          <p:cNvPr id="10" name="Shape 8"/>
          <p:cNvSpPr/>
          <p:nvPr/>
        </p:nvSpPr>
        <p:spPr>
          <a:xfrm>
            <a:off x="942975" y="2988072"/>
            <a:ext cx="6851650" cy="394097"/>
          </a:xfrm>
          <a:prstGeom prst="roundRect">
            <a:avLst>
              <a:gd name="adj" fmla="val 21752"/>
            </a:avLst>
          </a:prstGeom>
          <a:solidFill>
            <a:srgbClr val="FFFDFA"/>
          </a:solidFill>
          <a:ln w="6350">
            <a:solidFill>
              <a:srgbClr val="E2DBCF"/>
            </a:solidFill>
            <a:prstDash val="solid"/>
          </a:ln>
        </p:spPr>
      </p:sp>
      <p:sp>
        <p:nvSpPr>
          <p:cNvPr id="11" name="Text 9"/>
          <p:cNvSpPr/>
          <p:nvPr/>
        </p:nvSpPr>
        <p:spPr>
          <a:xfrm>
            <a:off x="1097280" y="3078442"/>
            <a:ext cx="1638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1A23"/>
                </a:solidFill>
                <a:latin typeface="DM Sans" pitchFamily="34" charset="0"/>
                <a:ea typeface="DM Sans" pitchFamily="34" charset="-122"/>
                <a:cs typeface="DM Sans" pitchFamily="34" charset="-120"/>
              </a:rPr>
              <a:t>Request handling</a:t>
            </a:r>
            <a:endParaRPr lang="en-US" sz="1200" dirty="0"/>
          </a:p>
        </p:txBody>
      </p:sp>
      <p:sp>
        <p:nvSpPr>
          <p:cNvPr id="12" name="Text 10"/>
          <p:cNvSpPr/>
          <p:nvPr/>
        </p:nvSpPr>
        <p:spPr>
          <a:xfrm>
            <a:off x="2837180" y="3078442"/>
            <a:ext cx="35414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C"/>
                </a:solidFill>
                <a:latin typeface="DM Sans" pitchFamily="34" charset="0"/>
                <a:ea typeface="DM Sans" pitchFamily="34" charset="-122"/>
                <a:cs typeface="DM Sans" pitchFamily="34" charset="-120"/>
              </a:rPr>
              <a:t>Routes · sessions · authorization · input validation</a:t>
            </a:r>
            <a:endParaRPr lang="en-US" sz="1200" dirty="0"/>
          </a:p>
        </p:txBody>
      </p:sp>
      <p:sp>
        <p:nvSpPr>
          <p:cNvPr id="13" name="Shape 11"/>
          <p:cNvSpPr/>
          <p:nvPr/>
        </p:nvSpPr>
        <p:spPr>
          <a:xfrm>
            <a:off x="942975" y="3464719"/>
            <a:ext cx="1651000" cy="1056124"/>
          </a:xfrm>
          <a:prstGeom prst="roundRect">
            <a:avLst>
              <a:gd name="adj" fmla="val 8117"/>
            </a:avLst>
          </a:prstGeom>
          <a:solidFill>
            <a:srgbClr val="FFFDFA"/>
          </a:solidFill>
          <a:ln w="6350">
            <a:solidFill>
              <a:srgbClr val="E2DBCF"/>
            </a:solidFill>
            <a:prstDash val="solid"/>
          </a:ln>
        </p:spPr>
      </p:sp>
      <p:sp>
        <p:nvSpPr>
          <p:cNvPr id="14" name="Text 12"/>
          <p:cNvSpPr/>
          <p:nvPr/>
        </p:nvSpPr>
        <p:spPr>
          <a:xfrm>
            <a:off x="1059180" y="3555526"/>
            <a:ext cx="146939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1A23"/>
                </a:solidFill>
                <a:latin typeface="DM Sans" pitchFamily="34" charset="0"/>
                <a:ea typeface="DM Sans" pitchFamily="34" charset="-122"/>
                <a:cs typeface="DM Sans" pitchFamily="34" charset="-120"/>
              </a:rPr>
              <a:t>Accounts</a:t>
            </a:r>
            <a:endParaRPr lang="en-US" sz="1200" dirty="0"/>
          </a:p>
        </p:txBody>
      </p:sp>
      <p:sp>
        <p:nvSpPr>
          <p:cNvPr id="15" name="Text 13"/>
          <p:cNvSpPr/>
          <p:nvPr/>
        </p:nvSpPr>
        <p:spPr>
          <a:xfrm>
            <a:off x="1059180" y="3794283"/>
            <a:ext cx="14693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C"/>
                </a:solidFill>
                <a:latin typeface="DM Sans" pitchFamily="34" charset="0"/>
                <a:ea typeface="DM Sans" pitchFamily="34" charset="-122"/>
                <a:cs typeface="DM Sans" pitchFamily="34" charset="-120"/>
              </a:rPr>
              <a:t>Login, profiles, roles</a:t>
            </a:r>
            <a:endParaRPr lang="en-US" sz="1200" dirty="0"/>
          </a:p>
        </p:txBody>
      </p:sp>
      <p:sp>
        <p:nvSpPr>
          <p:cNvPr id="16" name="Shape 14"/>
          <p:cNvSpPr/>
          <p:nvPr/>
        </p:nvSpPr>
        <p:spPr>
          <a:xfrm>
            <a:off x="2676525" y="3464719"/>
            <a:ext cx="1651000" cy="1056124"/>
          </a:xfrm>
          <a:prstGeom prst="roundRect">
            <a:avLst>
              <a:gd name="adj" fmla="val 8117"/>
            </a:avLst>
          </a:prstGeom>
          <a:solidFill>
            <a:srgbClr val="FFFDFA"/>
          </a:solidFill>
          <a:ln w="6350">
            <a:solidFill>
              <a:srgbClr val="E2DBCF"/>
            </a:solidFill>
            <a:prstDash val="solid"/>
          </a:ln>
        </p:spPr>
      </p:sp>
      <p:sp>
        <p:nvSpPr>
          <p:cNvPr id="17" name="Text 15"/>
          <p:cNvSpPr/>
          <p:nvPr/>
        </p:nvSpPr>
        <p:spPr>
          <a:xfrm>
            <a:off x="2792730" y="3555526"/>
            <a:ext cx="146939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1A23"/>
                </a:solidFill>
                <a:latin typeface="DM Sans" pitchFamily="34" charset="0"/>
                <a:ea typeface="DM Sans" pitchFamily="34" charset="-122"/>
                <a:cs typeface="DM Sans" pitchFamily="34" charset="-120"/>
              </a:rPr>
              <a:t>Goals &amp; check-ins</a:t>
            </a:r>
            <a:endParaRPr lang="en-US" sz="1200" dirty="0"/>
          </a:p>
        </p:txBody>
      </p:sp>
      <p:sp>
        <p:nvSpPr>
          <p:cNvPr id="18" name="Text 16"/>
          <p:cNvSpPr/>
          <p:nvPr/>
        </p:nvSpPr>
        <p:spPr>
          <a:xfrm>
            <a:off x="2792730" y="3794283"/>
            <a:ext cx="146939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C"/>
                </a:solidFill>
                <a:latin typeface="DM Sans" pitchFamily="34" charset="0"/>
                <a:ea typeface="DM Sans" pitchFamily="34" charset="-122"/>
                <a:cs typeface="DM Sans" pitchFamily="34" charset="-120"/>
              </a:rPr>
              <a:t>Schedules, stake lifecycle</a:t>
            </a:r>
            <a:endParaRPr lang="en-US" sz="1200" dirty="0"/>
          </a:p>
        </p:txBody>
      </p:sp>
      <p:sp>
        <p:nvSpPr>
          <p:cNvPr id="19" name="Shape 17"/>
          <p:cNvSpPr/>
          <p:nvPr/>
        </p:nvSpPr>
        <p:spPr>
          <a:xfrm>
            <a:off x="4410075" y="3464719"/>
            <a:ext cx="1651000" cy="1056124"/>
          </a:xfrm>
          <a:prstGeom prst="roundRect">
            <a:avLst>
              <a:gd name="adj" fmla="val 8117"/>
            </a:avLst>
          </a:prstGeom>
          <a:solidFill>
            <a:srgbClr val="FFFDFA"/>
          </a:solidFill>
          <a:ln w="6350">
            <a:solidFill>
              <a:srgbClr val="E2DBCF"/>
            </a:solidFill>
            <a:prstDash val="solid"/>
          </a:ln>
        </p:spPr>
      </p:sp>
      <p:sp>
        <p:nvSpPr>
          <p:cNvPr id="20" name="Text 18"/>
          <p:cNvSpPr/>
          <p:nvPr/>
        </p:nvSpPr>
        <p:spPr>
          <a:xfrm>
            <a:off x="4526280" y="3555526"/>
            <a:ext cx="1469390" cy="44997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1A23"/>
                </a:solidFill>
                <a:latin typeface="DM Sans" pitchFamily="34" charset="0"/>
                <a:ea typeface="DM Sans" pitchFamily="34" charset="-122"/>
                <a:cs typeface="DM Sans" pitchFamily="34" charset="-120"/>
              </a:rPr>
              <a:t>Social &amp; moderation</a:t>
            </a:r>
            <a:endParaRPr lang="en-US" sz="1200" dirty="0"/>
          </a:p>
        </p:txBody>
      </p:sp>
      <p:sp>
        <p:nvSpPr>
          <p:cNvPr id="21" name="Text 19"/>
          <p:cNvSpPr/>
          <p:nvPr/>
        </p:nvSpPr>
        <p:spPr>
          <a:xfrm>
            <a:off x="4526280" y="4005501"/>
            <a:ext cx="1469390" cy="44993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C"/>
                </a:solidFill>
                <a:latin typeface="DM Sans" pitchFamily="34" charset="0"/>
                <a:ea typeface="DM Sans" pitchFamily="34" charset="-122"/>
                <a:cs typeface="DM Sans" pitchFamily="34" charset="-120"/>
              </a:rPr>
              <a:t>Friends, feed, reports</a:t>
            </a:r>
            <a:endParaRPr lang="en-US" sz="1200" dirty="0"/>
          </a:p>
        </p:txBody>
      </p:sp>
      <p:sp>
        <p:nvSpPr>
          <p:cNvPr id="22" name="Shape 20"/>
          <p:cNvSpPr/>
          <p:nvPr/>
        </p:nvSpPr>
        <p:spPr>
          <a:xfrm>
            <a:off x="6143625" y="3464719"/>
            <a:ext cx="1651000" cy="1056124"/>
          </a:xfrm>
          <a:prstGeom prst="roundRect">
            <a:avLst>
              <a:gd name="adj" fmla="val 8117"/>
            </a:avLst>
          </a:prstGeom>
          <a:solidFill>
            <a:srgbClr val="FBE7DE"/>
          </a:solidFill>
          <a:ln w="6350">
            <a:solidFill>
              <a:srgbClr val="E2DBCF"/>
            </a:solidFill>
            <a:prstDash val="solid"/>
          </a:ln>
        </p:spPr>
      </p:sp>
      <p:sp>
        <p:nvSpPr>
          <p:cNvPr id="23" name="Text 21"/>
          <p:cNvSpPr/>
          <p:nvPr/>
        </p:nvSpPr>
        <p:spPr>
          <a:xfrm>
            <a:off x="6259830" y="3555526"/>
            <a:ext cx="146939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31E"/>
                </a:solidFill>
                <a:latin typeface="DM Sans" pitchFamily="34" charset="0"/>
                <a:ea typeface="DM Sans" pitchFamily="34" charset="-122"/>
                <a:cs typeface="DM Sans" pitchFamily="34" charset="-120"/>
              </a:rPr>
              <a:t>Deadline job</a:t>
            </a:r>
            <a:endParaRPr lang="en-US" sz="1200" dirty="0"/>
          </a:p>
        </p:txBody>
      </p:sp>
      <p:sp>
        <p:nvSpPr>
          <p:cNvPr id="24" name="Text 22"/>
          <p:cNvSpPr/>
          <p:nvPr/>
        </p:nvSpPr>
        <p:spPr>
          <a:xfrm>
            <a:off x="6259830" y="3794283"/>
            <a:ext cx="146939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C"/>
                </a:solidFill>
                <a:latin typeface="DM Sans" pitchFamily="34" charset="0"/>
                <a:ea typeface="DM Sans" pitchFamily="34" charset="-122"/>
                <a:cs typeface="DM Sans" pitchFamily="34" charset="-120"/>
              </a:rPr>
              <a:t>Releases missed stakes</a:t>
            </a:r>
            <a:endParaRPr lang="en-US" sz="1200" dirty="0"/>
          </a:p>
        </p:txBody>
      </p:sp>
      <p:sp>
        <p:nvSpPr>
          <p:cNvPr id="25" name="Shape 23"/>
          <p:cNvSpPr/>
          <p:nvPr/>
        </p:nvSpPr>
        <p:spPr>
          <a:xfrm>
            <a:off x="942975" y="4603397"/>
            <a:ext cx="6851650" cy="394097"/>
          </a:xfrm>
          <a:prstGeom prst="roundRect">
            <a:avLst>
              <a:gd name="adj" fmla="val 21752"/>
            </a:avLst>
          </a:prstGeom>
          <a:solidFill>
            <a:srgbClr val="FFFDFA"/>
          </a:solidFill>
          <a:ln w="6350">
            <a:solidFill>
              <a:srgbClr val="E2DBCF"/>
            </a:solidFill>
            <a:prstDash val="solid"/>
          </a:ln>
        </p:spPr>
      </p:sp>
      <p:sp>
        <p:nvSpPr>
          <p:cNvPr id="26" name="Text 24"/>
          <p:cNvSpPr/>
          <p:nvPr/>
        </p:nvSpPr>
        <p:spPr>
          <a:xfrm>
            <a:off x="1097280" y="4693760"/>
            <a:ext cx="1638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1A23"/>
                </a:solidFill>
                <a:latin typeface="DM Sans" pitchFamily="34" charset="0"/>
                <a:ea typeface="DM Sans" pitchFamily="34" charset="-122"/>
                <a:cs typeface="DM Sans" pitchFamily="34" charset="-120"/>
              </a:rPr>
              <a:t>Data access</a:t>
            </a:r>
            <a:endParaRPr lang="en-US" sz="1200" dirty="0"/>
          </a:p>
        </p:txBody>
      </p:sp>
      <p:sp>
        <p:nvSpPr>
          <p:cNvPr id="27" name="Text 25"/>
          <p:cNvSpPr/>
          <p:nvPr/>
        </p:nvSpPr>
        <p:spPr>
          <a:xfrm>
            <a:off x="2837180" y="4693760"/>
            <a:ext cx="413371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C"/>
                </a:solidFill>
                <a:latin typeface="DM Sans" pitchFamily="34" charset="0"/>
                <a:ea typeface="DM Sans" pitchFamily="34" charset="-122"/>
                <a:cs typeface="DM Sans" pitchFamily="34" charset="-120"/>
              </a:rPr>
              <a:t>Repositories (SQL, transactions) + photo storage adapter</a:t>
            </a:r>
            <a:endParaRPr lang="en-US" sz="1200" dirty="0"/>
          </a:p>
        </p:txBody>
      </p:sp>
      <p:sp>
        <p:nvSpPr>
          <p:cNvPr id="28" name="Shape 26"/>
          <p:cNvSpPr/>
          <p:nvPr/>
        </p:nvSpPr>
        <p:spPr>
          <a:xfrm>
            <a:off x="815975" y="5207043"/>
            <a:ext cx="3511550" cy="631785"/>
          </a:xfrm>
          <a:prstGeom prst="roundRect">
            <a:avLst>
              <a:gd name="adj" fmla="val 13569"/>
            </a:avLst>
          </a:prstGeom>
          <a:solidFill>
            <a:srgbClr val="FFFDFA"/>
          </a:solidFill>
          <a:ln w="6350">
            <a:solidFill>
              <a:srgbClr val="E2DBCF"/>
            </a:solidFill>
            <a:prstDash val="solid"/>
          </a:ln>
        </p:spPr>
      </p:sp>
      <p:sp>
        <p:nvSpPr>
          <p:cNvPr id="29" name="Text 27"/>
          <p:cNvSpPr/>
          <p:nvPr/>
        </p:nvSpPr>
        <p:spPr>
          <a:xfrm>
            <a:off x="932180" y="5297847"/>
            <a:ext cx="3377514" cy="237808"/>
          </a:xfrm>
          <a:prstGeom prst="rect">
            <a:avLst/>
          </a:prstGeom>
          <a:noFill/>
          <a:ln/>
        </p:spPr>
        <p:txBody>
          <a:bodyPr wrap="square" lIns="0" tIns="0" rIns="0" bIns="0" rtlCol="0" anchor="t">
            <a:normAutofit/>
          </a:bodyPr>
          <a:lstStyle/>
          <a:p>
            <a:pPr algn="l" indent="0" marL="0">
              <a:lnSpc>
                <a:spcPts val="1675"/>
              </a:lnSpc>
              <a:buNone/>
            </a:pPr>
            <a:r>
              <a:rPr lang="en-US" sz="1196" b="1" dirty="0">
                <a:solidFill>
                  <a:srgbClr val="161A23"/>
                </a:solidFill>
                <a:latin typeface="DM Sans" pitchFamily="34" charset="0"/>
                <a:ea typeface="DM Sans" pitchFamily="34" charset="-122"/>
                <a:cs typeface="DM Sans" pitchFamily="34" charset="-120"/>
              </a:rPr>
              <a:t>PostgreSQL</a:t>
            </a:r>
            <a:endParaRPr lang="en-US" sz="1196" dirty="0"/>
          </a:p>
        </p:txBody>
      </p:sp>
      <p:sp>
        <p:nvSpPr>
          <p:cNvPr id="30" name="Text 28"/>
          <p:cNvSpPr/>
          <p:nvPr/>
        </p:nvSpPr>
        <p:spPr>
          <a:xfrm>
            <a:off x="932180" y="5535656"/>
            <a:ext cx="3377514" cy="237768"/>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4A4F5C"/>
                </a:solidFill>
                <a:latin typeface="DM Sans" pitchFamily="34" charset="0"/>
                <a:ea typeface="DM Sans" pitchFamily="34" charset="-122"/>
                <a:cs typeface="DM Sans" pitchFamily="34" charset="-120"/>
              </a:rPr>
              <a:t>Users, goals, windows, check-ins, reports</a:t>
            </a:r>
            <a:endParaRPr lang="en-US" sz="1196" dirty="0"/>
          </a:p>
        </p:txBody>
      </p:sp>
      <p:sp>
        <p:nvSpPr>
          <p:cNvPr id="31" name="Shape 29"/>
          <p:cNvSpPr/>
          <p:nvPr/>
        </p:nvSpPr>
        <p:spPr>
          <a:xfrm>
            <a:off x="4410075" y="5207043"/>
            <a:ext cx="3511550" cy="631785"/>
          </a:xfrm>
          <a:prstGeom prst="roundRect">
            <a:avLst>
              <a:gd name="adj" fmla="val 13569"/>
            </a:avLst>
          </a:prstGeom>
          <a:solidFill>
            <a:srgbClr val="FFFDFA"/>
          </a:solidFill>
          <a:ln w="6350">
            <a:solidFill>
              <a:srgbClr val="E2DBCF"/>
            </a:solidFill>
            <a:prstDash val="solid"/>
          </a:ln>
        </p:spPr>
      </p:sp>
      <p:sp>
        <p:nvSpPr>
          <p:cNvPr id="32" name="Text 30"/>
          <p:cNvSpPr/>
          <p:nvPr/>
        </p:nvSpPr>
        <p:spPr>
          <a:xfrm>
            <a:off x="4526280" y="5297847"/>
            <a:ext cx="3377514" cy="237808"/>
          </a:xfrm>
          <a:prstGeom prst="rect">
            <a:avLst/>
          </a:prstGeom>
          <a:noFill/>
          <a:ln/>
        </p:spPr>
        <p:txBody>
          <a:bodyPr wrap="square" lIns="0" tIns="0" rIns="0" bIns="0" rtlCol="0" anchor="t">
            <a:normAutofit/>
          </a:bodyPr>
          <a:lstStyle/>
          <a:p>
            <a:pPr algn="l" indent="0" marL="0">
              <a:lnSpc>
                <a:spcPts val="1675"/>
              </a:lnSpc>
              <a:buNone/>
            </a:pPr>
            <a:r>
              <a:rPr lang="en-US" sz="1196" b="1" dirty="0">
                <a:solidFill>
                  <a:srgbClr val="161A23"/>
                </a:solidFill>
                <a:latin typeface="DM Sans" pitchFamily="34" charset="0"/>
                <a:ea typeface="DM Sans" pitchFamily="34" charset="-122"/>
                <a:cs typeface="DM Sans" pitchFamily="34" charset="-120"/>
              </a:rPr>
              <a:t>Private photo storage</a:t>
            </a:r>
            <a:endParaRPr lang="en-US" sz="1196" dirty="0"/>
          </a:p>
        </p:txBody>
      </p:sp>
      <p:sp>
        <p:nvSpPr>
          <p:cNvPr id="33" name="Text 31"/>
          <p:cNvSpPr/>
          <p:nvPr/>
        </p:nvSpPr>
        <p:spPr>
          <a:xfrm>
            <a:off x="4526280" y="5535656"/>
            <a:ext cx="3377514" cy="237768"/>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4A4F5C"/>
                </a:solidFill>
                <a:latin typeface="DM Sans" pitchFamily="34" charset="0"/>
                <a:ea typeface="DM Sans" pitchFamily="34" charset="-122"/>
                <a:cs typeface="DM Sans" pitchFamily="34" charset="-120"/>
              </a:rPr>
              <a:t>Server-controlled access only</a:t>
            </a:r>
            <a:endParaRPr lang="en-US" sz="1196" dirty="0"/>
          </a:p>
        </p:txBody>
      </p:sp>
      <p:sp>
        <p:nvSpPr>
          <p:cNvPr id="34" name="Text 32"/>
          <p:cNvSpPr/>
          <p:nvPr/>
        </p:nvSpPr>
        <p:spPr>
          <a:xfrm>
            <a:off x="8229600" y="1803400"/>
            <a:ext cx="324408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1A23"/>
                </a:solidFill>
                <a:latin typeface="Space Grotesk" pitchFamily="34" charset="0"/>
                <a:ea typeface="Space Grotesk" pitchFamily="34" charset="-122"/>
                <a:cs typeface="Space Grotesk" pitchFamily="34" charset="-120"/>
              </a:rPr>
              <a:t>Layered client-server</a:t>
            </a:r>
            <a:endParaRPr lang="en-US" sz="1800" dirty="0"/>
          </a:p>
        </p:txBody>
      </p:sp>
      <p:sp>
        <p:nvSpPr>
          <p:cNvPr id="35" name="Text 33"/>
          <p:cNvSpPr/>
          <p:nvPr/>
        </p:nvSpPr>
        <p:spPr>
          <a:xfrm>
            <a:off x="8229600" y="2255521"/>
            <a:ext cx="3244088"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4F5C"/>
                </a:solidFill>
                <a:latin typeface="DM Sans" pitchFamily="34" charset="0"/>
                <a:ea typeface="DM Sans" pitchFamily="34" charset="-122"/>
                <a:cs typeface="DM Sans" pitchFamily="34" charset="-120"/>
              </a:rPr>
              <a:t>Separation of concerns.</a:t>
            </a:r>
            <a:r>
              <a:rPr lang="en-US" sz="1300" dirty="0">
                <a:solidFill>
                  <a:srgbClr val="4A4F5C"/>
                </a:solidFill>
                <a:latin typeface="DM Sans" pitchFamily="34" charset="0"/>
                <a:ea typeface="DM Sans" pitchFamily="34" charset="-122"/>
                <a:cs typeface="DM Sans" pitchFamily="34" charset="-120"/>
              </a:rPr>
              <a:t> The UI can change without touching deadline rules or SQL.</a:t>
            </a:r>
            <a:endParaRPr lang="en-US" sz="1300" dirty="0"/>
          </a:p>
        </p:txBody>
      </p:sp>
      <p:sp>
        <p:nvSpPr>
          <p:cNvPr id="36" name="Text 34"/>
          <p:cNvSpPr/>
          <p:nvPr/>
        </p:nvSpPr>
        <p:spPr>
          <a:xfrm>
            <a:off x="8229600" y="3126739"/>
            <a:ext cx="3244088"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4F5C"/>
                </a:solidFill>
                <a:latin typeface="DM Sans" pitchFamily="34" charset="0"/>
                <a:ea typeface="DM Sans" pitchFamily="34" charset="-122"/>
                <a:cs typeface="DM Sans" pitchFamily="34" charset="-120"/>
              </a:rPr>
              <a:t>One source of truth.</a:t>
            </a:r>
            <a:r>
              <a:rPr lang="en-US" sz="1300" dirty="0">
                <a:solidFill>
                  <a:srgbClr val="4A4F5C"/>
                </a:solidFill>
                <a:latin typeface="DM Sans" pitchFamily="34" charset="0"/>
                <a:ea typeface="DM Sans" pitchFamily="34" charset="-122"/>
                <a:cs typeface="DM Sans" pitchFamily="34" charset="-120"/>
              </a:rPr>
              <a:t> Every browser hits the same rules and the same database.</a:t>
            </a:r>
            <a:endParaRPr lang="en-US" sz="1300" dirty="0"/>
          </a:p>
        </p:txBody>
      </p:sp>
      <p:sp>
        <p:nvSpPr>
          <p:cNvPr id="37" name="Text 35"/>
          <p:cNvSpPr/>
          <p:nvPr/>
        </p:nvSpPr>
        <p:spPr>
          <a:xfrm>
            <a:off x="8229600" y="3766821"/>
            <a:ext cx="3244088"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4F5C"/>
                </a:solidFill>
                <a:latin typeface="DM Sans" pitchFamily="34" charset="0"/>
                <a:ea typeface="DM Sans" pitchFamily="34" charset="-122"/>
                <a:cs typeface="DM Sans" pitchFamily="34" charset="-120"/>
              </a:rPr>
              <a:t>Right-sized.</a:t>
            </a:r>
            <a:r>
              <a:rPr lang="en-US" sz="1300" dirty="0">
                <a:solidFill>
                  <a:srgbClr val="4A4F5C"/>
                </a:solidFill>
                <a:latin typeface="DM Sans" pitchFamily="34" charset="0"/>
                <a:ea typeface="DM Sans" pitchFamily="34" charset="-122"/>
                <a:cs typeface="DM Sans" pitchFamily="34" charset="-120"/>
              </a:rPr>
              <a:t> One backend is simpler for three people to build, test and deploy than microservices.</a:t>
            </a:r>
            <a:endParaRPr lang="en-US" sz="1300" dirty="0"/>
          </a:p>
        </p:txBody>
      </p:sp>
      <p:sp>
        <p:nvSpPr>
          <p:cNvPr id="38" name="Text 36"/>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A"/>
                </a:solidFill>
                <a:latin typeface="DM Sans" pitchFamily="34" charset="0"/>
                <a:ea typeface="DM Sans" pitchFamily="34" charset="-122"/>
                <a:cs typeface="DM Sans" pitchFamily="34" charset="-120"/>
              </a:rPr>
              <a:t>Stake · Productivity Masters   08 / 15</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31E"/>
                </a:solidFill>
                <a:latin typeface="DM Sans" pitchFamily="34" charset="0"/>
                <a:ea typeface="DM Sans" pitchFamily="34" charset="-122"/>
                <a:cs typeface="DM Sans" pitchFamily="34" charset="-120"/>
              </a:rPr>
              <a:t>KEY DESIGN DECISION</a:t>
            </a:r>
            <a:endParaRPr lang="en-US" sz="1200" dirty="0"/>
          </a:p>
        </p:txBody>
      </p:sp>
      <p:sp>
        <p:nvSpPr>
          <p:cNvPr id="3" name="Text 1"/>
          <p:cNvSpPr/>
          <p:nvPr/>
        </p:nvSpPr>
        <p:spPr>
          <a:xfrm>
            <a:off x="812800" y="1102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1A23"/>
                </a:solidFill>
                <a:latin typeface="Space Grotesk" pitchFamily="34" charset="0"/>
                <a:ea typeface="Space Grotesk" pitchFamily="34" charset="-122"/>
                <a:cs typeface="Space Grotesk" pitchFamily="34" charset="-120"/>
              </a:rPr>
              <a:t>What happens at the deadline</a:t>
            </a:r>
            <a:endParaRPr lang="en-US" sz="3200" dirty="0"/>
          </a:p>
        </p:txBody>
      </p:sp>
      <p:sp>
        <p:nvSpPr>
          <p:cNvPr id="4" name="Shape 2"/>
          <p:cNvSpPr/>
          <p:nvPr/>
        </p:nvSpPr>
        <p:spPr>
          <a:xfrm>
            <a:off x="815975" y="2628267"/>
            <a:ext cx="2269490" cy="1108710"/>
          </a:xfrm>
          <a:prstGeom prst="roundRect">
            <a:avLst>
              <a:gd name="adj" fmla="val 10023"/>
            </a:avLst>
          </a:prstGeom>
          <a:solidFill>
            <a:srgbClr val="FFFDFA"/>
          </a:solidFill>
          <a:ln w="6350">
            <a:solidFill>
              <a:srgbClr val="E2DBCF"/>
            </a:solidFill>
            <a:prstDash val="solid"/>
          </a:ln>
        </p:spPr>
      </p:sp>
      <p:sp>
        <p:nvSpPr>
          <p:cNvPr id="5" name="Text 3"/>
          <p:cNvSpPr/>
          <p:nvPr/>
        </p:nvSpPr>
        <p:spPr>
          <a:xfrm>
            <a:off x="995680" y="2807971"/>
            <a:ext cx="196738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1A23"/>
                </a:solidFill>
                <a:latin typeface="Space Grotesk" pitchFamily="34" charset="0"/>
                <a:ea typeface="Space Grotesk" pitchFamily="34" charset="-122"/>
                <a:cs typeface="Space Grotesk" pitchFamily="34" charset="-120"/>
              </a:rPr>
              <a:t>Timer fires</a:t>
            </a:r>
            <a:endParaRPr lang="en-US" sz="1700" dirty="0"/>
          </a:p>
        </p:txBody>
      </p:sp>
      <p:sp>
        <p:nvSpPr>
          <p:cNvPr id="6" name="Text 4"/>
          <p:cNvSpPr/>
          <p:nvPr/>
        </p:nvSpPr>
        <p:spPr>
          <a:xfrm>
            <a:off x="995680" y="3130550"/>
            <a:ext cx="196738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C"/>
                </a:solidFill>
                <a:latin typeface="DM Sans" pitchFamily="34" charset="0"/>
                <a:ea typeface="DM Sans" pitchFamily="34" charset="-122"/>
                <a:cs typeface="DM Sans" pitchFamily="34" charset="-120"/>
              </a:rPr>
              <a:t>The internal job wakes up. No user request needed.</a:t>
            </a:r>
            <a:endParaRPr lang="en-US" sz="1200" dirty="0"/>
          </a:p>
        </p:txBody>
      </p:sp>
      <p:pic>
        <p:nvPicPr>
          <p:cNvPr id="7" name="Image 0" descr="arrow-right">    </p:cNvPr>
          <p:cNvPicPr>
            <a:picLocks noChangeAspect="1"/>
          </p:cNvPicPr>
          <p:nvPr/>
        </p:nvPicPr>
        <p:blipFill>
          <a:blip r:embed="rId1"/>
          <a:srcRect l="0" r="0" t="0" b="0"/>
          <a:stretch/>
        </p:blipFill>
        <p:spPr>
          <a:xfrm>
            <a:off x="3215640" y="3093721"/>
            <a:ext cx="355600" cy="177800"/>
          </a:xfrm>
          <a:prstGeom prst="rect">
            <a:avLst/>
          </a:prstGeom>
        </p:spPr>
      </p:pic>
      <p:sp>
        <p:nvSpPr>
          <p:cNvPr id="8" name="Shape 5"/>
          <p:cNvSpPr/>
          <p:nvPr/>
        </p:nvSpPr>
        <p:spPr>
          <a:xfrm>
            <a:off x="3701415" y="2521589"/>
            <a:ext cx="2269490" cy="1322070"/>
          </a:xfrm>
          <a:prstGeom prst="roundRect">
            <a:avLst>
              <a:gd name="adj" fmla="val 8405"/>
            </a:avLst>
          </a:prstGeom>
          <a:solidFill>
            <a:srgbClr val="FFFDFA"/>
          </a:solidFill>
          <a:ln w="6350">
            <a:solidFill>
              <a:srgbClr val="E2DBCF"/>
            </a:solidFill>
            <a:prstDash val="solid"/>
          </a:ln>
        </p:spPr>
      </p:sp>
      <p:sp>
        <p:nvSpPr>
          <p:cNvPr id="9" name="Text 6"/>
          <p:cNvSpPr/>
          <p:nvPr/>
        </p:nvSpPr>
        <p:spPr>
          <a:xfrm>
            <a:off x="3881120" y="2701292"/>
            <a:ext cx="196738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1A23"/>
                </a:solidFill>
                <a:latin typeface="Space Grotesk" pitchFamily="34" charset="0"/>
                <a:ea typeface="Space Grotesk" pitchFamily="34" charset="-122"/>
                <a:cs typeface="Space Grotesk" pitchFamily="34" charset="-120"/>
              </a:rPr>
              <a:t>Find due windows</a:t>
            </a:r>
            <a:endParaRPr lang="en-US" sz="1700" dirty="0"/>
          </a:p>
        </p:txBody>
      </p:sp>
      <p:sp>
        <p:nvSpPr>
          <p:cNvPr id="10" name="Text 7"/>
          <p:cNvSpPr/>
          <p:nvPr/>
        </p:nvSpPr>
        <p:spPr>
          <a:xfrm>
            <a:off x="3881120" y="3023871"/>
            <a:ext cx="196738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C"/>
                </a:solidFill>
                <a:latin typeface="DM Sans" pitchFamily="34" charset="0"/>
                <a:ea typeface="DM Sans" pitchFamily="34" charset="-122"/>
                <a:cs typeface="DM Sans" pitchFamily="34" charset="-120"/>
              </a:rPr>
              <a:t>Goal windows whose cutoff has passed, stored in UTC.</a:t>
            </a:r>
            <a:endParaRPr lang="en-US" sz="1200" dirty="0"/>
          </a:p>
        </p:txBody>
      </p:sp>
      <p:pic>
        <p:nvPicPr>
          <p:cNvPr id="11" name="Image 1" descr="arrow-right">    </p:cNvPr>
          <p:cNvPicPr>
            <a:picLocks noChangeAspect="1"/>
          </p:cNvPicPr>
          <p:nvPr/>
        </p:nvPicPr>
        <p:blipFill>
          <a:blip r:embed="rId2"/>
          <a:srcRect l="0" r="0" t="0" b="0"/>
          <a:stretch/>
        </p:blipFill>
        <p:spPr>
          <a:xfrm>
            <a:off x="6101080" y="3093721"/>
            <a:ext cx="355600" cy="177800"/>
          </a:xfrm>
          <a:prstGeom prst="rect">
            <a:avLst/>
          </a:prstGeom>
        </p:spPr>
      </p:pic>
      <p:sp>
        <p:nvSpPr>
          <p:cNvPr id="12" name="Shape 8"/>
          <p:cNvSpPr/>
          <p:nvPr/>
        </p:nvSpPr>
        <p:spPr>
          <a:xfrm>
            <a:off x="6586855" y="2521589"/>
            <a:ext cx="2269490" cy="1322070"/>
          </a:xfrm>
          <a:prstGeom prst="roundRect">
            <a:avLst>
              <a:gd name="adj" fmla="val 8405"/>
            </a:avLst>
          </a:prstGeom>
          <a:solidFill>
            <a:srgbClr val="FFFDFA"/>
          </a:solidFill>
          <a:ln w="6350">
            <a:solidFill>
              <a:srgbClr val="E2DBCF"/>
            </a:solidFill>
            <a:prstDash val="solid"/>
          </a:ln>
        </p:spPr>
      </p:sp>
      <p:sp>
        <p:nvSpPr>
          <p:cNvPr id="13" name="Text 9"/>
          <p:cNvSpPr/>
          <p:nvPr/>
        </p:nvSpPr>
        <p:spPr>
          <a:xfrm>
            <a:off x="6766560" y="2701292"/>
            <a:ext cx="196738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1A23"/>
                </a:solidFill>
                <a:latin typeface="Space Grotesk" pitchFamily="34" charset="0"/>
                <a:ea typeface="Space Grotesk" pitchFamily="34" charset="-122"/>
                <a:cs typeface="Space Grotesk" pitchFamily="34" charset="-120"/>
              </a:rPr>
              <a:t>Recheck evidence</a:t>
            </a:r>
            <a:endParaRPr lang="en-US" sz="1700" dirty="0"/>
          </a:p>
        </p:txBody>
      </p:sp>
      <p:sp>
        <p:nvSpPr>
          <p:cNvPr id="14" name="Text 10"/>
          <p:cNvSpPr/>
          <p:nvPr/>
        </p:nvSpPr>
        <p:spPr>
          <a:xfrm>
            <a:off x="6766560" y="3023871"/>
            <a:ext cx="196738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C"/>
                </a:solidFill>
                <a:latin typeface="DM Sans" pitchFamily="34" charset="0"/>
                <a:ea typeface="DM Sans" pitchFamily="34" charset="-122"/>
                <a:cs typeface="DM Sans" pitchFamily="34" charset="-120"/>
              </a:rPr>
              <a:t>Count committed check-ins against the required number.</a:t>
            </a:r>
            <a:endParaRPr lang="en-US" sz="1200" dirty="0"/>
          </a:p>
        </p:txBody>
      </p:sp>
      <p:pic>
        <p:nvPicPr>
          <p:cNvPr id="15" name="Image 2" descr="arrow-right">    </p:cNvPr>
          <p:cNvPicPr>
            <a:picLocks noChangeAspect="1"/>
          </p:cNvPicPr>
          <p:nvPr/>
        </p:nvPicPr>
        <p:blipFill>
          <a:blip r:embed="rId3"/>
          <a:srcRect l="0" r="0" t="0" b="0"/>
          <a:stretch/>
        </p:blipFill>
        <p:spPr>
          <a:xfrm>
            <a:off x="8986520" y="3093721"/>
            <a:ext cx="355600" cy="177800"/>
          </a:xfrm>
          <a:prstGeom prst="rect">
            <a:avLst/>
          </a:prstGeom>
        </p:spPr>
      </p:pic>
      <p:sp>
        <p:nvSpPr>
          <p:cNvPr id="16" name="Shape 11"/>
          <p:cNvSpPr/>
          <p:nvPr/>
        </p:nvSpPr>
        <p:spPr>
          <a:xfrm>
            <a:off x="9472295" y="1806575"/>
            <a:ext cx="1903730" cy="1322070"/>
          </a:xfrm>
          <a:prstGeom prst="roundRect">
            <a:avLst>
              <a:gd name="adj" fmla="val 8405"/>
            </a:avLst>
          </a:prstGeom>
          <a:solidFill>
            <a:srgbClr val="E6ECF8"/>
          </a:solidFill>
          <a:ln w="6350">
            <a:solidFill>
              <a:srgbClr val="C9D5EF"/>
            </a:solidFill>
            <a:prstDash val="solid"/>
          </a:ln>
        </p:spPr>
      </p:sp>
      <p:sp>
        <p:nvSpPr>
          <p:cNvPr id="17" name="Text 12"/>
          <p:cNvSpPr/>
          <p:nvPr/>
        </p:nvSpPr>
        <p:spPr>
          <a:xfrm>
            <a:off x="9652000" y="1986279"/>
            <a:ext cx="159512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B59C3"/>
                </a:solidFill>
                <a:latin typeface="Space Grotesk" pitchFamily="34" charset="0"/>
                <a:ea typeface="Space Grotesk" pitchFamily="34" charset="-122"/>
                <a:cs typeface="Space Grotesk" pitchFamily="34" charset="-120"/>
              </a:rPr>
              <a:t>Met</a:t>
            </a:r>
            <a:endParaRPr lang="en-US" sz="1700" dirty="0"/>
          </a:p>
        </p:txBody>
      </p:sp>
      <p:sp>
        <p:nvSpPr>
          <p:cNvPr id="18" name="Text 13"/>
          <p:cNvSpPr/>
          <p:nvPr/>
        </p:nvSpPr>
        <p:spPr>
          <a:xfrm>
            <a:off x="9652000" y="2308864"/>
            <a:ext cx="159512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C"/>
                </a:solidFill>
                <a:latin typeface="DM Sans" pitchFamily="34" charset="0"/>
                <a:ea typeface="DM Sans" pitchFamily="34" charset="-122"/>
                <a:cs typeface="DM Sans" pitchFamily="34" charset="-120"/>
              </a:rPr>
              <a:t>Day marked complete on the calendar.</a:t>
            </a:r>
            <a:endParaRPr lang="en-US" sz="1200" dirty="0"/>
          </a:p>
        </p:txBody>
      </p:sp>
      <p:sp>
        <p:nvSpPr>
          <p:cNvPr id="19" name="Shape 14"/>
          <p:cNvSpPr/>
          <p:nvPr/>
        </p:nvSpPr>
        <p:spPr>
          <a:xfrm>
            <a:off x="9472295" y="3236596"/>
            <a:ext cx="1903730" cy="1322070"/>
          </a:xfrm>
          <a:prstGeom prst="roundRect">
            <a:avLst>
              <a:gd name="adj" fmla="val 8405"/>
            </a:avLst>
          </a:prstGeom>
          <a:solidFill>
            <a:srgbClr val="FBE7DE"/>
          </a:solidFill>
          <a:ln w="6350">
            <a:solidFill>
              <a:srgbClr val="F2C9B8"/>
            </a:solidFill>
            <a:prstDash val="solid"/>
          </a:ln>
        </p:spPr>
      </p:sp>
      <p:sp>
        <p:nvSpPr>
          <p:cNvPr id="20" name="Text 15"/>
          <p:cNvSpPr/>
          <p:nvPr/>
        </p:nvSpPr>
        <p:spPr>
          <a:xfrm>
            <a:off x="9652000" y="3416300"/>
            <a:ext cx="159512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8431E"/>
                </a:solidFill>
                <a:latin typeface="Space Grotesk" pitchFamily="34" charset="0"/>
                <a:ea typeface="Space Grotesk" pitchFamily="34" charset="-122"/>
                <a:cs typeface="Space Grotesk" pitchFamily="34" charset="-120"/>
              </a:rPr>
              <a:t>Missed</a:t>
            </a:r>
            <a:endParaRPr lang="en-US" sz="1700" dirty="0"/>
          </a:p>
        </p:txBody>
      </p:sp>
      <p:sp>
        <p:nvSpPr>
          <p:cNvPr id="21" name="Text 16"/>
          <p:cNvSpPr/>
          <p:nvPr/>
        </p:nvSpPr>
        <p:spPr>
          <a:xfrm>
            <a:off x="9652000" y="3738879"/>
            <a:ext cx="159512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C"/>
                </a:solidFill>
                <a:latin typeface="DM Sans" pitchFamily="34" charset="0"/>
                <a:ea typeface="DM Sans" pitchFamily="34" charset="-122"/>
                <a:cs typeface="DM Sans" pitchFamily="34" charset="-120"/>
              </a:rPr>
              <a:t>Stake released + feed post in one transaction.</a:t>
            </a:r>
            <a:endParaRPr lang="en-US" sz="1200" dirty="0"/>
          </a:p>
        </p:txBody>
      </p:sp>
      <p:sp>
        <p:nvSpPr>
          <p:cNvPr id="22" name="Text 17"/>
          <p:cNvSpPr/>
          <p:nvPr/>
        </p:nvSpPr>
        <p:spPr>
          <a:xfrm>
            <a:off x="812800" y="4815842"/>
            <a:ext cx="10566400" cy="767080"/>
          </a:xfrm>
          <a:prstGeom prst="roundRect">
            <a:avLst>
              <a:gd name="adj" fmla="val 13245"/>
            </a:avLst>
          </a:prstGeom>
          <a:solidFill>
            <a:srgbClr val="EFE9DF"/>
          </a:solidFill>
          <a:ln/>
        </p:spPr>
        <p:txBody>
          <a:bodyPr wrap="square" lIns="173442" tIns="122642" rIns="0" bIns="97242" rtlCol="0" anchor="t">
            <a:normAutofit/>
          </a:bodyPr>
          <a:lstStyle/>
          <a:p>
            <a:pPr algn="l" indent="0" marL="0">
              <a:lnSpc>
                <a:spcPts val="1820"/>
              </a:lnSpc>
              <a:buNone/>
            </a:pPr>
            <a:r>
              <a:rPr lang="en-US" sz="1300" b="1" dirty="0">
                <a:solidFill>
                  <a:srgbClr val="161A23"/>
                </a:solidFill>
                <a:latin typeface="DM Sans" pitchFamily="34" charset="0"/>
                <a:ea typeface="DM Sans" pitchFamily="34" charset="-122"/>
                <a:cs typeface="DM Sans" pitchFamily="34" charset="-120"/>
              </a:rPr>
              <a:t>Reliability built in:</a:t>
            </a:r>
            <a:r>
              <a:rPr lang="en-US" sz="1300" dirty="0">
                <a:solidFill>
                  <a:srgbClr val="161A23"/>
                </a:solidFill>
                <a:latin typeface="DM Sans" pitchFamily="34" charset="0"/>
                <a:ea typeface="DM Sans" pitchFamily="34" charset="-122"/>
                <a:cs typeface="DM Sans" pitchFamily="34" charset="-120"/>
              </a:rPr>
              <a:t> one release per window (unique constraint) · check-ins and deadline checks serialized per window · due windows rechecked after a restart</a:t>
            </a:r>
            <a:endParaRPr lang="en-US" sz="1300" dirty="0"/>
          </a:p>
        </p:txBody>
      </p:sp>
      <p:sp>
        <p:nvSpPr>
          <p:cNvPr id="23" name="Text 18"/>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A"/>
                </a:solidFill>
                <a:latin typeface="DM Sans" pitchFamily="34" charset="0"/>
                <a:ea typeface="DM Sans" pitchFamily="34" charset="-122"/>
                <a:cs typeface="DM Sans" pitchFamily="34" charset="-120"/>
              </a:rPr>
              <a:t>Stake · Productivity Masters   09 / 15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31E"/>
                </a:solidFill>
                <a:latin typeface="DM Sans" pitchFamily="34" charset="0"/>
                <a:ea typeface="DM Sans" pitchFamily="34" charset="-122"/>
                <a:cs typeface="DM Sans" pitchFamily="34" charset="-120"/>
              </a:rPr>
              <a:t>RISK MANAGEMENT PLAN</a:t>
            </a:r>
            <a:endParaRPr lang="en-US" sz="1200" dirty="0"/>
          </a:p>
        </p:txBody>
      </p:sp>
      <p:sp>
        <p:nvSpPr>
          <p:cNvPr id="3" name="Text 1"/>
          <p:cNvSpPr/>
          <p:nvPr/>
        </p:nvSpPr>
        <p:spPr>
          <a:xfrm>
            <a:off x="812800" y="1102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1A23"/>
                </a:solidFill>
                <a:latin typeface="Space Grotesk" pitchFamily="34" charset="0"/>
                <a:ea typeface="Space Grotesk" pitchFamily="34" charset="-122"/>
                <a:cs typeface="Space Grotesk" pitchFamily="34" charset="-120"/>
              </a:rPr>
              <a:t>What could go wrong, and our plan for it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100"/>
          <a:ext cx="10553700" cy="3489960"/>
        </p:xfrm>
        <a:graphic>
          <a:graphicData uri="http://schemas.openxmlformats.org/drawingml/2006/table">
            <a:tbl>
              <a:tblPr/>
              <a:tblGrid>
                <a:gridCol w="2638425"/>
                <a:gridCol w="1055370"/>
                <a:gridCol w="1266444"/>
                <a:gridCol w="1266444"/>
                <a:gridCol w="4327017"/>
              </a:tblGrid>
              <a:tr h="403860">
                <a:tc>
                  <a:txBody>
                    <a:bodyPr/>
                    <a:lstStyle/>
                    <a:p>
                      <a:pPr indent="0" marL="0">
                        <a:lnSpc>
                          <a:spcPts val="1680"/>
                        </a:lnSpc>
                        <a:buNone/>
                      </a:pPr>
                      <a:r>
                        <a:rPr lang="en-US" sz="1200" b="1" dirty="0">
                          <a:solidFill>
                            <a:srgbClr val="161A23"/>
                          </a:solidFill>
                          <a:latin typeface="DM Sans" pitchFamily="34" charset="0"/>
                          <a:ea typeface="DM Sans" pitchFamily="34" charset="-122"/>
                          <a:cs typeface="DM Sans" pitchFamily="34" charset="-120"/>
                        </a:rPr>
                        <a:t>Risk</a:t>
                      </a:r>
                      <a:endParaRPr lang="en-US" sz="1200" dirty="0">
                        <a:latin typeface="DM Sans" charset="0"/>
                        <a:ea typeface="DM Sans" charset="0"/>
                        <a:cs typeface="DM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B6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6B4B0"/>
                      </a:solidFill>
                      <a:prstDash val="solid"/>
                      <a:round/>
                      <a:headEnd type="none" w="med" len="med"/>
                      <a:tailEnd type="none" w="med" len="med"/>
                    </a:lnB>
                    <a:solidFill>
                      <a:srgbClr val="E4E1DC"/>
                    </a:solidFill>
                  </a:tcPr>
                </a:tc>
                <a:tc>
                  <a:txBody>
                    <a:bodyPr/>
                    <a:lstStyle/>
                    <a:p>
                      <a:pPr indent="0" marL="0">
                        <a:lnSpc>
                          <a:spcPts val="1680"/>
                        </a:lnSpc>
                        <a:buNone/>
                      </a:pPr>
                      <a:r>
                        <a:rPr lang="en-US" sz="1200" b="1" dirty="0">
                          <a:solidFill>
                            <a:srgbClr val="161A23"/>
                          </a:solidFill>
                          <a:latin typeface="DM Sans" pitchFamily="34" charset="0"/>
                          <a:ea typeface="DM Sans" pitchFamily="34" charset="-122"/>
                          <a:cs typeface="DM Sans" pitchFamily="34" charset="-120"/>
                        </a:rPr>
                        <a:t>Type</a:t>
                      </a:r>
                      <a:endParaRPr lang="en-US" sz="1200" dirty="0">
                        <a:latin typeface="DM Sans" charset="0"/>
                        <a:ea typeface="DM Sans" charset="0"/>
                        <a:cs typeface="DM Sans" charset="0"/>
                      </a:endParaRPr>
                    </a:p>
                  </a:txBody>
                  <a:tcPr marL="127000" marR="127000" marT="88900" marB="88900" anchor="t">
                    <a:lnL w="12700" cap="flat" cmpd="sng" algn="ctr">
                      <a:solidFill>
                        <a:srgbClr val="B6B4B0"/>
                      </a:solidFill>
                      <a:prstDash val="solid"/>
                      <a:round/>
                      <a:headEnd type="none" w="med" len="med"/>
                      <a:tailEnd type="none" w="med" len="med"/>
                    </a:lnL>
                    <a:lnR w="12700" cap="flat" cmpd="sng" algn="ctr">
                      <a:solidFill>
                        <a:srgbClr val="B6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6B4B0"/>
                      </a:solidFill>
                      <a:prstDash val="solid"/>
                      <a:round/>
                      <a:headEnd type="none" w="med" len="med"/>
                      <a:tailEnd type="none" w="med" len="med"/>
                    </a:lnB>
                    <a:solidFill>
                      <a:srgbClr val="E4E1DC"/>
                    </a:solidFill>
                  </a:tcPr>
                </a:tc>
                <a:tc>
                  <a:txBody>
                    <a:bodyPr/>
                    <a:lstStyle/>
                    <a:p>
                      <a:pPr indent="0" marL="0">
                        <a:lnSpc>
                          <a:spcPts val="1680"/>
                        </a:lnSpc>
                        <a:buNone/>
                      </a:pPr>
                      <a:r>
                        <a:rPr lang="en-US" sz="1200" b="1" dirty="0">
                          <a:solidFill>
                            <a:srgbClr val="161A23"/>
                          </a:solidFill>
                          <a:latin typeface="DM Sans" pitchFamily="34" charset="0"/>
                          <a:ea typeface="DM Sans" pitchFamily="34" charset="-122"/>
                          <a:cs typeface="DM Sans" pitchFamily="34" charset="-120"/>
                        </a:rPr>
                        <a:t>Probability</a:t>
                      </a:r>
                      <a:endParaRPr lang="en-US" sz="1200" dirty="0">
                        <a:latin typeface="DM Sans" charset="0"/>
                        <a:ea typeface="DM Sans" charset="0"/>
                        <a:cs typeface="DM Sans" charset="0"/>
                      </a:endParaRPr>
                    </a:p>
                  </a:txBody>
                  <a:tcPr marL="127000" marR="127000" marT="88900" marB="88900" anchor="t">
                    <a:lnL w="12700" cap="flat" cmpd="sng" algn="ctr">
                      <a:solidFill>
                        <a:srgbClr val="B6B4B0"/>
                      </a:solidFill>
                      <a:prstDash val="solid"/>
                      <a:round/>
                      <a:headEnd type="none" w="med" len="med"/>
                      <a:tailEnd type="none" w="med" len="med"/>
                    </a:lnL>
                    <a:lnR w="12700" cap="flat" cmpd="sng" algn="ctr">
                      <a:solidFill>
                        <a:srgbClr val="B6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6B4B0"/>
                      </a:solidFill>
                      <a:prstDash val="solid"/>
                      <a:round/>
                      <a:headEnd type="none" w="med" len="med"/>
                      <a:tailEnd type="none" w="med" len="med"/>
                    </a:lnB>
                    <a:solidFill>
                      <a:srgbClr val="E4E1DC"/>
                    </a:solidFill>
                  </a:tcPr>
                </a:tc>
                <a:tc>
                  <a:txBody>
                    <a:bodyPr/>
                    <a:lstStyle/>
                    <a:p>
                      <a:pPr indent="0" marL="0">
                        <a:lnSpc>
                          <a:spcPts val="1680"/>
                        </a:lnSpc>
                        <a:buNone/>
                      </a:pPr>
                      <a:r>
                        <a:rPr lang="en-US" sz="1200" b="1" dirty="0">
                          <a:solidFill>
                            <a:srgbClr val="161A23"/>
                          </a:solidFill>
                          <a:latin typeface="DM Sans" pitchFamily="34" charset="0"/>
                          <a:ea typeface="DM Sans" pitchFamily="34" charset="-122"/>
                          <a:cs typeface="DM Sans" pitchFamily="34" charset="-120"/>
                        </a:rPr>
                        <a:t>Effect</a:t>
                      </a:r>
                      <a:endParaRPr lang="en-US" sz="1200" dirty="0">
                        <a:latin typeface="DM Sans" charset="0"/>
                        <a:ea typeface="DM Sans" charset="0"/>
                        <a:cs typeface="DM Sans" charset="0"/>
                      </a:endParaRPr>
                    </a:p>
                  </a:txBody>
                  <a:tcPr marL="127000" marR="127000" marT="88900" marB="88900" anchor="t">
                    <a:lnL w="12700" cap="flat" cmpd="sng" algn="ctr">
                      <a:solidFill>
                        <a:srgbClr val="B6B4B0"/>
                      </a:solidFill>
                      <a:prstDash val="solid"/>
                      <a:round/>
                      <a:headEnd type="none" w="med" len="med"/>
                      <a:tailEnd type="none" w="med" len="med"/>
                    </a:lnL>
                    <a:lnR w="12700" cap="flat" cmpd="sng" algn="ctr">
                      <a:solidFill>
                        <a:srgbClr val="B6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6B4B0"/>
                      </a:solidFill>
                      <a:prstDash val="solid"/>
                      <a:round/>
                      <a:headEnd type="none" w="med" len="med"/>
                      <a:tailEnd type="none" w="med" len="med"/>
                    </a:lnB>
                    <a:solidFill>
                      <a:srgbClr val="E4E1DC"/>
                    </a:solidFill>
                  </a:tcPr>
                </a:tc>
                <a:tc>
                  <a:txBody>
                    <a:bodyPr/>
                    <a:lstStyle/>
                    <a:p>
                      <a:pPr indent="0" marL="0">
                        <a:lnSpc>
                          <a:spcPts val="1680"/>
                        </a:lnSpc>
                        <a:buNone/>
                      </a:pPr>
                      <a:r>
                        <a:rPr lang="en-US" sz="1200" b="1" dirty="0">
                          <a:solidFill>
                            <a:srgbClr val="161A23"/>
                          </a:solidFill>
                          <a:latin typeface="DM Sans" pitchFamily="34" charset="0"/>
                          <a:ea typeface="DM Sans" pitchFamily="34" charset="-122"/>
                          <a:cs typeface="DM Sans" pitchFamily="34" charset="-120"/>
                        </a:rPr>
                        <a:t>Strategy</a:t>
                      </a:r>
                      <a:endParaRPr lang="en-US" sz="1200" dirty="0">
                        <a:latin typeface="DM Sans" charset="0"/>
                        <a:ea typeface="DM Sans" charset="0"/>
                        <a:cs typeface="DM Sans" charset="0"/>
                      </a:endParaRPr>
                    </a:p>
                  </a:txBody>
                  <a:tcPr marL="127000" marR="127000" marT="88900" marB="88900" anchor="t">
                    <a:lnL w="12700" cap="flat" cmpd="sng" algn="ctr">
                      <a:solidFill>
                        <a:srgbClr val="B6B4B0"/>
                      </a:solidFill>
                      <a:prstDash val="solid"/>
                      <a:round/>
                      <a:headEnd type="none" w="med" len="med"/>
                      <a:tailEnd type="none" w="med" len="med"/>
                    </a:lnL>
                    <a:lnR w="12700" cap="flat" cmpd="sng" algn="ctr">
                      <a:solidFill>
                        <a:srgbClr val="B6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6B4B0"/>
                      </a:solidFill>
                      <a:prstDash val="solid"/>
                      <a:round/>
                      <a:headEnd type="none" w="med" len="med"/>
                      <a:tailEnd type="none" w="med" len="med"/>
                    </a:lnB>
                    <a:solidFill>
                      <a:srgbClr val="E4E1DC"/>
                    </a:solidFill>
                  </a:tcPr>
                </a:tc>
              </a:tr>
              <a:tr h="617220">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Inappropriate stake photo uploaded</a:t>
                      </a:r>
                      <a:endParaRPr lang="en-US" sz="1200" dirty="0">
                        <a:latin typeface="DM Sans" charset="0"/>
                        <a:ea typeface="DM Sans" charset="0"/>
                        <a:cs typeface="DM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6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Business</a:t>
                      </a:r>
                      <a:endParaRPr lang="en-US" sz="1200" dirty="0">
                        <a:latin typeface="DM Sans" charset="0"/>
                        <a:ea typeface="DM Sans" charset="0"/>
                        <a:cs typeface="DM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6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High</a:t>
                      </a:r>
                      <a:endParaRPr lang="en-US" sz="1200" dirty="0">
                        <a:latin typeface="DM Sans" charset="0"/>
                        <a:ea typeface="DM Sans" charset="0"/>
                        <a:cs typeface="DM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6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Serious</a:t>
                      </a:r>
                      <a:endParaRPr lang="en-US" sz="1200" dirty="0">
                        <a:latin typeface="DM Sans" charset="0"/>
                        <a:ea typeface="DM Sans" charset="0"/>
                        <a:cs typeface="DM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6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Admins review stakes before goals start; users report; admins remove and ban.</a:t>
                      </a:r>
                      <a:endParaRPr lang="en-US" sz="1200" dirty="0">
                        <a:latin typeface="DM Sans" charset="0"/>
                        <a:ea typeface="DM Sans" charset="0"/>
                        <a:cs typeface="DM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6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617220">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Fake check-in photo</a:t>
                      </a:r>
                      <a:endParaRPr lang="en-US" sz="1200" dirty="0">
                        <a:latin typeface="DM Sans" charset="0"/>
                        <a:ea typeface="DM Sans" charset="0"/>
                        <a:cs typeface="DM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Product</a:t>
                      </a:r>
                      <a:endParaRPr lang="en-US" sz="1200" dirty="0">
                        <a:latin typeface="DM Sans" charset="0"/>
                        <a:ea typeface="DM Sans" charset="0"/>
                        <a:cs typeface="DM Sans" charset="0"/>
                      </a:endParaRPr>
                    </a:p>
                  </a:txBody>
                  <a:tcPr marL="127000" marR="127000" marT="88900" marB="889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High</a:t>
                      </a:r>
                      <a:endParaRPr lang="en-US" sz="1200" dirty="0">
                        <a:latin typeface="DM Sans" charset="0"/>
                        <a:ea typeface="DM Sans" charset="0"/>
                        <a:cs typeface="DM Sans" charset="0"/>
                      </a:endParaRPr>
                    </a:p>
                  </a:txBody>
                  <a:tcPr marL="127000" marR="127000" marT="88900" marB="889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Tolerable</a:t>
                      </a:r>
                      <a:endParaRPr lang="en-US" sz="1200" dirty="0">
                        <a:latin typeface="DM Sans" charset="0"/>
                        <a:ea typeface="DM Sans" charset="0"/>
                        <a:cs typeface="DM Sans" charset="0"/>
                      </a:endParaRPr>
                    </a:p>
                  </a:txBody>
                  <a:tcPr marL="127000" marR="127000" marT="88900" marB="889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Check-ins appear on friends' feed, where they can be flagged; admins verify or deny.</a:t>
                      </a:r>
                      <a:endParaRPr lang="en-US" sz="1200" dirty="0">
                        <a:latin typeface="DM Sans" charset="0"/>
                        <a:ea typeface="DM Sans" charset="0"/>
                        <a:cs typeface="DM Sans" charset="0"/>
                      </a:endParaRPr>
                    </a:p>
                  </a:txBody>
                  <a:tcPr marL="127000" marR="127000" marT="88900" marB="889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r>
              <a:tr h="617220">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Stake released by mistake (time zones)</a:t>
                      </a:r>
                      <a:endParaRPr lang="en-US" sz="1200" dirty="0">
                        <a:latin typeface="DM Sans" charset="0"/>
                        <a:ea typeface="DM Sans" charset="0"/>
                        <a:cs typeface="DM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Product</a:t>
                      </a:r>
                      <a:endParaRPr lang="en-US" sz="1200" dirty="0">
                        <a:latin typeface="DM Sans" charset="0"/>
                        <a:ea typeface="DM Sans" charset="0"/>
                        <a:cs typeface="DM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Moderate</a:t>
                      </a:r>
                      <a:endParaRPr lang="en-US" sz="1200" dirty="0">
                        <a:latin typeface="DM Sans" charset="0"/>
                        <a:ea typeface="DM Sans" charset="0"/>
                        <a:cs typeface="DM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Serious</a:t>
                      </a:r>
                      <a:endParaRPr lang="en-US" sz="1200" dirty="0">
                        <a:latin typeface="DM Sans" charset="0"/>
                        <a:ea typeface="DM Sans" charset="0"/>
                        <a:cs typeface="DM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Store all deadlines in UTC; write tests for time-zone and midnight edge cases.</a:t>
                      </a:r>
                      <a:endParaRPr lang="en-US" sz="1200" dirty="0">
                        <a:latin typeface="DM Sans" charset="0"/>
                        <a:ea typeface="DM Sans" charset="0"/>
                        <a:cs typeface="DM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617220">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Private stake photo leaks early</a:t>
                      </a:r>
                      <a:endParaRPr lang="en-US" sz="1200" dirty="0">
                        <a:latin typeface="DM Sans" charset="0"/>
                        <a:ea typeface="DM Sans" charset="0"/>
                        <a:cs typeface="DM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Product</a:t>
                      </a:r>
                      <a:endParaRPr lang="en-US" sz="1200" dirty="0">
                        <a:latin typeface="DM Sans" charset="0"/>
                        <a:ea typeface="DM Sans" charset="0"/>
                        <a:cs typeface="DM Sans" charset="0"/>
                      </a:endParaRPr>
                    </a:p>
                  </a:txBody>
                  <a:tcPr marL="127000" marR="127000" marT="88900" marB="889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Low</a:t>
                      </a:r>
                      <a:endParaRPr lang="en-US" sz="1200" dirty="0">
                        <a:latin typeface="DM Sans" charset="0"/>
                        <a:ea typeface="DM Sans" charset="0"/>
                        <a:cs typeface="DM Sans" charset="0"/>
                      </a:endParaRPr>
                    </a:p>
                  </a:txBody>
                  <a:tcPr marL="127000" marR="127000" marT="88900" marB="889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Serious</a:t>
                      </a:r>
                      <a:endParaRPr lang="en-US" sz="1200" dirty="0">
                        <a:latin typeface="DM Sans" charset="0"/>
                        <a:ea typeface="DM Sans" charset="0"/>
                        <a:cs typeface="DM Sans" charset="0"/>
                      </a:endParaRPr>
                    </a:p>
                  </a:txBody>
                  <a:tcPr marL="127000" marR="127000" marT="88900" marB="889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Private storage; server checks authorization on every photo request.</a:t>
                      </a:r>
                      <a:endParaRPr lang="en-US" sz="1200" dirty="0">
                        <a:latin typeface="DM Sans" charset="0"/>
                        <a:ea typeface="DM Sans" charset="0"/>
                        <a:cs typeface="DM Sans" charset="0"/>
                      </a:endParaRPr>
                    </a:p>
                  </a:txBody>
                  <a:tcPr marL="127000" marR="127000" marT="88900" marB="889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r>
              <a:tr h="617220">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Scope too big for 3 people</a:t>
                      </a:r>
                      <a:endParaRPr lang="en-US" sz="1200" dirty="0">
                        <a:latin typeface="DM Sans" charset="0"/>
                        <a:ea typeface="DM Sans" charset="0"/>
                        <a:cs typeface="DM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Project</a:t>
                      </a:r>
                      <a:endParaRPr lang="en-US" sz="1200" dirty="0">
                        <a:latin typeface="DM Sans" charset="0"/>
                        <a:ea typeface="DM Sans" charset="0"/>
                        <a:cs typeface="DM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Moderate</a:t>
                      </a:r>
                      <a:endParaRPr lang="en-US" sz="1200" dirty="0">
                        <a:latin typeface="DM Sans" charset="0"/>
                        <a:ea typeface="DM Sans" charset="0"/>
                        <a:cs typeface="DM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Tolerable</a:t>
                      </a:r>
                      <a:endParaRPr lang="en-US" sz="1200" dirty="0">
                        <a:latin typeface="DM Sans" charset="0"/>
                        <a:ea typeface="DM Sans" charset="0"/>
                        <a:cs typeface="DM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Ship Release 1 first; PO guards the backlog; re-estimate each sprint.</a:t>
                      </a:r>
                      <a:endParaRPr lang="en-US" sz="1200" dirty="0">
                        <a:latin typeface="DM Sans" charset="0"/>
                        <a:ea typeface="DM Sans" charset="0"/>
                        <a:cs typeface="DM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A"/>
                </a:solidFill>
                <a:latin typeface="DM Sans" pitchFamily="34" charset="0"/>
                <a:ea typeface="DM Sans" pitchFamily="34" charset="-122"/>
                <a:cs typeface="DM Sans" pitchFamily="34" charset="-120"/>
              </a:rPr>
              <a:t>Stake · Productivity Masters   10 / 15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31E"/>
                </a:solidFill>
                <a:latin typeface="DM Sans" pitchFamily="34" charset="0"/>
                <a:ea typeface="DM Sans" pitchFamily="34" charset="-122"/>
                <a:cs typeface="DM Sans" pitchFamily="34" charset="-120"/>
              </a:rPr>
              <a:t>PRODUCT BACKLOG</a:t>
            </a:r>
            <a:endParaRPr lang="en-US" sz="1200" dirty="0"/>
          </a:p>
        </p:txBody>
      </p:sp>
      <p:sp>
        <p:nvSpPr>
          <p:cNvPr id="3" name="Text 1"/>
          <p:cNvSpPr/>
          <p:nvPr/>
        </p:nvSpPr>
        <p:spPr>
          <a:xfrm>
            <a:off x="812800" y="1102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1A23"/>
                </a:solidFill>
                <a:latin typeface="Space Grotesk" pitchFamily="34" charset="0"/>
                <a:ea typeface="Space Grotesk" pitchFamily="34" charset="-122"/>
                <a:cs typeface="Space Grotesk" pitchFamily="34" charset="-120"/>
              </a:rPr>
              <a:t>Estimated with planning poker</a:t>
            </a:r>
            <a:endParaRPr lang="en-US" sz="3200" dirty="0"/>
          </a:p>
        </p:txBody>
      </p:sp>
      <p:sp>
        <p:nvSpPr>
          <p:cNvPr id="4" name="Text 2"/>
          <p:cNvSpPr/>
          <p:nvPr/>
        </p:nvSpPr>
        <p:spPr>
          <a:xfrm>
            <a:off x="812800" y="1803400"/>
            <a:ext cx="531088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A23"/>
                </a:solidFill>
                <a:latin typeface="Space Grotesk" pitchFamily="34" charset="0"/>
                <a:ea typeface="Space Grotesk" pitchFamily="34" charset="-122"/>
                <a:cs typeface="Space Grotesk" pitchFamily="34" charset="-120"/>
              </a:rPr>
              <a:t>Release 1 → Sprint 1</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136142"/>
          <a:ext cx="5143500" cy="3027680"/>
        </p:xfrm>
        <a:graphic>
          <a:graphicData uri="http://schemas.openxmlformats.org/drawingml/2006/table">
            <a:tbl>
              <a:tblPr/>
              <a:tblGrid>
                <a:gridCol w="771525"/>
                <a:gridCol w="3446145"/>
                <a:gridCol w="925830"/>
              </a:tblGrid>
              <a:tr h="378460">
                <a:tc>
                  <a:txBody>
                    <a:bodyPr/>
                    <a:lstStyle/>
                    <a:p>
                      <a:pPr indent="0" marL="0">
                        <a:lnSpc>
                          <a:spcPts val="1680"/>
                        </a:lnSpc>
                        <a:buNone/>
                      </a:pPr>
                      <a:r>
                        <a:rPr lang="en-US" sz="1200" b="1" dirty="0">
                          <a:solidFill>
                            <a:srgbClr val="161A23"/>
                          </a:solidFill>
                          <a:latin typeface="DM Sans" pitchFamily="34" charset="0"/>
                          <a:ea typeface="DM Sans" pitchFamily="34" charset="-122"/>
                          <a:cs typeface="DM Sans" pitchFamily="34" charset="-120"/>
                        </a:rPr>
                        <a:t>ID</a:t>
                      </a: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B6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6B4B0"/>
                      </a:solidFill>
                      <a:prstDash val="solid"/>
                      <a:round/>
                      <a:headEnd type="none" w="med" len="med"/>
                      <a:tailEnd type="none" w="med" len="med"/>
                    </a:lnB>
                    <a:solidFill>
                      <a:srgbClr val="E4E1DC"/>
                    </a:solidFill>
                  </a:tcPr>
                </a:tc>
                <a:tc>
                  <a:txBody>
                    <a:bodyPr/>
                    <a:lstStyle/>
                    <a:p>
                      <a:pPr indent="0" marL="0">
                        <a:lnSpc>
                          <a:spcPts val="1680"/>
                        </a:lnSpc>
                        <a:buNone/>
                      </a:pPr>
                      <a:r>
                        <a:rPr lang="en-US" sz="1200" b="1" dirty="0">
                          <a:solidFill>
                            <a:srgbClr val="161A23"/>
                          </a:solidFill>
                          <a:latin typeface="DM Sans" pitchFamily="34" charset="0"/>
                          <a:ea typeface="DM Sans" pitchFamily="34" charset="-122"/>
                          <a:cs typeface="DM Sans" pitchFamily="34" charset="-120"/>
                        </a:rPr>
                        <a:t>Backlog item</a:t>
                      </a:r>
                      <a:endParaRPr lang="en-US" sz="1200" dirty="0">
                        <a:latin typeface="DM Sans" charset="0"/>
                        <a:ea typeface="DM Sans" charset="0"/>
                        <a:cs typeface="DM Sans" charset="0"/>
                      </a:endParaRPr>
                    </a:p>
                  </a:txBody>
                  <a:tcPr marL="114300" marR="114300" marT="76200" marB="76200" anchor="t">
                    <a:lnL w="12700" cap="flat" cmpd="sng" algn="ctr">
                      <a:solidFill>
                        <a:srgbClr val="B6B4B0"/>
                      </a:solidFill>
                      <a:prstDash val="solid"/>
                      <a:round/>
                      <a:headEnd type="none" w="med" len="med"/>
                      <a:tailEnd type="none" w="med" len="med"/>
                    </a:lnL>
                    <a:lnR w="12700" cap="flat" cmpd="sng" algn="ctr">
                      <a:solidFill>
                        <a:srgbClr val="B6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6B4B0"/>
                      </a:solidFill>
                      <a:prstDash val="solid"/>
                      <a:round/>
                      <a:headEnd type="none" w="med" len="med"/>
                      <a:tailEnd type="none" w="med" len="med"/>
                    </a:lnB>
                    <a:solidFill>
                      <a:srgbClr val="E4E1DC"/>
                    </a:solidFill>
                  </a:tcPr>
                </a:tc>
                <a:tc>
                  <a:txBody>
                    <a:bodyPr/>
                    <a:lstStyle/>
                    <a:p>
                      <a:pPr algn="r" indent="0" marL="0">
                        <a:lnSpc>
                          <a:spcPts val="1680"/>
                        </a:lnSpc>
                        <a:buNone/>
                      </a:pPr>
                      <a:r>
                        <a:rPr lang="en-US" sz="1200" b="1" dirty="0">
                          <a:solidFill>
                            <a:srgbClr val="161A23"/>
                          </a:solidFill>
                          <a:latin typeface="DM Sans" pitchFamily="34" charset="0"/>
                          <a:ea typeface="DM Sans" pitchFamily="34" charset="-122"/>
                          <a:cs typeface="DM Sans" pitchFamily="34" charset="-120"/>
                        </a:rPr>
                        <a:t>Points</a:t>
                      </a:r>
                      <a:endParaRPr lang="en-US" sz="1200" dirty="0">
                        <a:latin typeface="DM Sans" charset="0"/>
                        <a:ea typeface="DM Sans" charset="0"/>
                        <a:cs typeface="DM Sans" charset="0"/>
                      </a:endParaRPr>
                    </a:p>
                  </a:txBody>
                  <a:tcPr marL="114300" marR="114300" marT="76200" marB="76200" anchor="t">
                    <a:lnL w="12700" cap="flat" cmpd="sng" algn="ctr">
                      <a:solidFill>
                        <a:srgbClr val="B6B4B0"/>
                      </a:solidFill>
                      <a:prstDash val="solid"/>
                      <a:round/>
                      <a:headEnd type="none" w="med" len="med"/>
                      <a:tailEnd type="none" w="med" len="med"/>
                    </a:lnL>
                    <a:lnR w="12700" cap="flat" cmpd="sng" algn="ctr">
                      <a:solidFill>
                        <a:srgbClr val="B6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6B4B0"/>
                      </a:solidFill>
                      <a:prstDash val="solid"/>
                      <a:round/>
                      <a:headEnd type="none" w="med" len="med"/>
                      <a:tailEnd type="none" w="med" len="med"/>
                    </a:lnB>
                    <a:solidFill>
                      <a:srgbClr val="E4E1DC"/>
                    </a:solidFill>
                  </a:tcPr>
                </a:tc>
              </a:tr>
              <a:tr h="378460">
                <a:tc>
                  <a:txBody>
                    <a:bodyPr/>
                    <a:lstStyle/>
                    <a:p>
                      <a:pPr indent="0" marL="0">
                        <a:lnSpc>
                          <a:spcPts val="1680"/>
                        </a:lnSpc>
                        <a:buNone/>
                      </a:pPr>
                      <a:r>
                        <a:rPr lang="en-US" sz="1200" dirty="0">
                          <a:solidFill>
                            <a:srgbClr val="4A4F5C"/>
                          </a:solidFill>
                          <a:latin typeface="DM Sans" pitchFamily="34" charset="0"/>
                          <a:ea typeface="DM Sans" pitchFamily="34" charset="-122"/>
                          <a:cs typeface="DM Sans" pitchFamily="34" charset="-120"/>
                        </a:rPr>
                        <a:t>PBI-1</a:t>
                      </a: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6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Register, log in, log out</a:t>
                      </a: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6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680"/>
                        </a:lnSpc>
                        <a:buNone/>
                      </a:pPr>
                      <a:r>
                        <a:rPr lang="en-US" sz="1200" dirty="0">
                          <a:solidFill>
                            <a:srgbClr val="161A23"/>
                          </a:solidFill>
                          <a:latin typeface="DM Sans" pitchFamily="34" charset="0"/>
                          <a:ea typeface="DM Sans" pitchFamily="34" charset="-122"/>
                          <a:cs typeface="DM Sans" pitchFamily="34" charset="-120"/>
                        </a:rPr>
                        <a:t>5</a:t>
                      </a: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6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78460">
                <a:tc>
                  <a:txBody>
                    <a:bodyPr/>
                    <a:lstStyle/>
                    <a:p>
                      <a:pPr indent="0" marL="0">
                        <a:lnSpc>
                          <a:spcPts val="1680"/>
                        </a:lnSpc>
                        <a:buNone/>
                      </a:pPr>
                      <a:r>
                        <a:rPr lang="en-US" sz="1200" dirty="0">
                          <a:solidFill>
                            <a:srgbClr val="4A4F5C"/>
                          </a:solidFill>
                          <a:latin typeface="DM Sans" pitchFamily="34" charset="0"/>
                          <a:ea typeface="DM Sans" pitchFamily="34" charset="-122"/>
                          <a:cs typeface="DM Sans" pitchFamily="34" charset="-120"/>
                        </a:rPr>
                        <a:t>PBI-2</a:t>
                      </a: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Create a goal with frequency + deadline</a:t>
                      </a:r>
                      <a:endParaRPr lang="en-US" sz="1200" dirty="0">
                        <a:latin typeface="DM Sans" charset="0"/>
                        <a:ea typeface="DM Sans" charset="0"/>
                        <a:cs typeface="DM Sans" charset="0"/>
                      </a:endParaRPr>
                    </a:p>
                  </a:txBody>
                  <a:tcPr marL="114300" marR="114300" marT="76200" marB="762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algn="r" indent="0" marL="0">
                        <a:lnSpc>
                          <a:spcPts val="1680"/>
                        </a:lnSpc>
                        <a:buNone/>
                      </a:pPr>
                      <a:r>
                        <a:rPr lang="en-US" sz="1200" dirty="0">
                          <a:solidFill>
                            <a:srgbClr val="161A23"/>
                          </a:solidFill>
                          <a:latin typeface="DM Sans" pitchFamily="34" charset="0"/>
                          <a:ea typeface="DM Sans" pitchFamily="34" charset="-122"/>
                          <a:cs typeface="DM Sans" pitchFamily="34" charset="-120"/>
                        </a:rPr>
                        <a:t>5</a:t>
                      </a:r>
                      <a:endParaRPr lang="en-US" sz="1200" dirty="0">
                        <a:latin typeface="DM Sans" charset="0"/>
                        <a:ea typeface="DM Sans" charset="0"/>
                        <a:cs typeface="DM Sans" charset="0"/>
                      </a:endParaRPr>
                    </a:p>
                  </a:txBody>
                  <a:tcPr marL="114300" marR="114300" marT="76200" marB="762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r>
              <a:tr h="378460">
                <a:tc>
                  <a:txBody>
                    <a:bodyPr/>
                    <a:lstStyle/>
                    <a:p>
                      <a:pPr indent="0" marL="0">
                        <a:lnSpc>
                          <a:spcPts val="1680"/>
                        </a:lnSpc>
                        <a:buNone/>
                      </a:pPr>
                      <a:r>
                        <a:rPr lang="en-US" sz="1200" dirty="0">
                          <a:solidFill>
                            <a:srgbClr val="4A4F5C"/>
                          </a:solidFill>
                          <a:latin typeface="DM Sans" pitchFamily="34" charset="0"/>
                          <a:ea typeface="DM Sans" pitchFamily="34" charset="-122"/>
                          <a:cs typeface="DM Sans" pitchFamily="34" charset="-120"/>
                        </a:rPr>
                        <a:t>PBI-3</a:t>
                      </a: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Upload a private stake photo</a:t>
                      </a: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680"/>
                        </a:lnSpc>
                        <a:buNone/>
                      </a:pPr>
                      <a:r>
                        <a:rPr lang="en-US" sz="1200" dirty="0">
                          <a:solidFill>
                            <a:srgbClr val="161A23"/>
                          </a:solidFill>
                          <a:latin typeface="DM Sans" pitchFamily="34" charset="0"/>
                          <a:ea typeface="DM Sans" pitchFamily="34" charset="-122"/>
                          <a:cs typeface="DM Sans" pitchFamily="34" charset="-120"/>
                        </a:rPr>
                        <a:t>8</a:t>
                      </a: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78460">
                <a:tc>
                  <a:txBody>
                    <a:bodyPr/>
                    <a:lstStyle/>
                    <a:p>
                      <a:pPr indent="0" marL="0">
                        <a:lnSpc>
                          <a:spcPts val="1680"/>
                        </a:lnSpc>
                        <a:buNone/>
                      </a:pPr>
                      <a:r>
                        <a:rPr lang="en-US" sz="1200" dirty="0">
                          <a:solidFill>
                            <a:srgbClr val="4A4F5C"/>
                          </a:solidFill>
                          <a:latin typeface="DM Sans" pitchFamily="34" charset="0"/>
                          <a:ea typeface="DM Sans" pitchFamily="34" charset="-122"/>
                          <a:cs typeface="DM Sans" pitchFamily="34" charset="-120"/>
                        </a:rPr>
                        <a:t>PBI-4</a:t>
                      </a: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Submit a timestamped check-in photo</a:t>
                      </a:r>
                      <a:endParaRPr lang="en-US" sz="1200" dirty="0">
                        <a:latin typeface="DM Sans" charset="0"/>
                        <a:ea typeface="DM Sans" charset="0"/>
                        <a:cs typeface="DM Sans" charset="0"/>
                      </a:endParaRPr>
                    </a:p>
                  </a:txBody>
                  <a:tcPr marL="114300" marR="114300" marT="76200" marB="762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algn="r" indent="0" marL="0">
                        <a:lnSpc>
                          <a:spcPts val="1680"/>
                        </a:lnSpc>
                        <a:buNone/>
                      </a:pPr>
                      <a:r>
                        <a:rPr lang="en-US" sz="1200" dirty="0">
                          <a:solidFill>
                            <a:srgbClr val="161A23"/>
                          </a:solidFill>
                          <a:latin typeface="DM Sans" pitchFamily="34" charset="0"/>
                          <a:ea typeface="DM Sans" pitchFamily="34" charset="-122"/>
                          <a:cs typeface="DM Sans" pitchFamily="34" charset="-120"/>
                        </a:rPr>
                        <a:t>5</a:t>
                      </a:r>
                      <a:endParaRPr lang="en-US" sz="1200" dirty="0">
                        <a:latin typeface="DM Sans" charset="0"/>
                        <a:ea typeface="DM Sans" charset="0"/>
                        <a:cs typeface="DM Sans" charset="0"/>
                      </a:endParaRPr>
                    </a:p>
                  </a:txBody>
                  <a:tcPr marL="114300" marR="114300" marT="76200" marB="762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r>
              <a:tr h="378460">
                <a:tc>
                  <a:txBody>
                    <a:bodyPr/>
                    <a:lstStyle/>
                    <a:p>
                      <a:pPr indent="0" marL="0">
                        <a:lnSpc>
                          <a:spcPts val="1680"/>
                        </a:lnSpc>
                        <a:buNone/>
                      </a:pPr>
                      <a:r>
                        <a:rPr lang="en-US" sz="1200" dirty="0">
                          <a:solidFill>
                            <a:srgbClr val="4A4F5C"/>
                          </a:solidFill>
                          <a:latin typeface="DM Sans" pitchFamily="34" charset="0"/>
                          <a:ea typeface="DM Sans" pitchFamily="34" charset="-122"/>
                          <a:cs typeface="DM Sans" pitchFamily="34" charset="-120"/>
                        </a:rPr>
                        <a:t>PBI-5</a:t>
                      </a: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Send and accept friend requests</a:t>
                      </a: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680"/>
                        </a:lnSpc>
                        <a:buNone/>
                      </a:pPr>
                      <a:r>
                        <a:rPr lang="en-US" sz="1200" dirty="0">
                          <a:solidFill>
                            <a:srgbClr val="161A23"/>
                          </a:solidFill>
                          <a:latin typeface="DM Sans" pitchFamily="34" charset="0"/>
                          <a:ea typeface="DM Sans" pitchFamily="34" charset="-122"/>
                          <a:cs typeface="DM Sans" pitchFamily="34" charset="-120"/>
                        </a:rPr>
                        <a:t>5</a:t>
                      </a: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78460">
                <a:tc>
                  <a:txBody>
                    <a:bodyPr/>
                    <a:lstStyle/>
                    <a:p>
                      <a:pPr indent="0" marL="0">
                        <a:lnSpc>
                          <a:spcPts val="1680"/>
                        </a:lnSpc>
                        <a:buNone/>
                      </a:pPr>
                      <a:r>
                        <a:rPr lang="en-US" sz="1200" dirty="0">
                          <a:solidFill>
                            <a:srgbClr val="4A4F5C"/>
                          </a:solidFill>
                          <a:latin typeface="DM Sans" pitchFamily="34" charset="0"/>
                          <a:ea typeface="DM Sans" pitchFamily="34" charset="-122"/>
                          <a:cs typeface="DM Sans" pitchFamily="34" charset="-120"/>
                        </a:rPr>
                        <a:t>PBI-6</a:t>
                      </a: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Feed of friends' check-ins</a:t>
                      </a:r>
                      <a:endParaRPr lang="en-US" sz="1200" dirty="0">
                        <a:latin typeface="DM Sans" charset="0"/>
                        <a:ea typeface="DM Sans" charset="0"/>
                        <a:cs typeface="DM Sans" charset="0"/>
                      </a:endParaRPr>
                    </a:p>
                  </a:txBody>
                  <a:tcPr marL="114300" marR="114300" marT="76200" marB="762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algn="r" indent="0" marL="0">
                        <a:lnSpc>
                          <a:spcPts val="1680"/>
                        </a:lnSpc>
                        <a:buNone/>
                      </a:pPr>
                      <a:r>
                        <a:rPr lang="en-US" sz="1200" dirty="0">
                          <a:solidFill>
                            <a:srgbClr val="161A23"/>
                          </a:solidFill>
                          <a:latin typeface="DM Sans" pitchFamily="34" charset="0"/>
                          <a:ea typeface="DM Sans" pitchFamily="34" charset="-122"/>
                          <a:cs typeface="DM Sans" pitchFamily="34" charset="-120"/>
                        </a:rPr>
                        <a:t>8</a:t>
                      </a:r>
                      <a:endParaRPr lang="en-US" sz="1200" dirty="0">
                        <a:latin typeface="DM Sans" charset="0"/>
                        <a:ea typeface="DM Sans" charset="0"/>
                        <a:cs typeface="DM Sans" charset="0"/>
                      </a:endParaRPr>
                    </a:p>
                  </a:txBody>
                  <a:tcPr marL="114300" marR="114300" marT="76200" marB="762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r>
              <a:tr h="378460">
                <a:tc>
                  <a:txBody>
                    <a:bodyPr/>
                    <a:lstStyle/>
                    <a:p>
                      <a:pPr indent="0" marL="0">
                        <a:lnSpc>
                          <a:spcPts val="1680"/>
                        </a:lnSpc>
                        <a:buNone/>
                      </a:pP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Total</a:t>
                      </a: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680"/>
                        </a:lnSpc>
                        <a:buNone/>
                      </a:pPr>
                      <a:r>
                        <a:rPr lang="en-US" sz="1200" dirty="0">
                          <a:solidFill>
                            <a:srgbClr val="161A23"/>
                          </a:solidFill>
                          <a:latin typeface="DM Sans" pitchFamily="34" charset="0"/>
                          <a:ea typeface="DM Sans" pitchFamily="34" charset="-122"/>
                          <a:cs typeface="DM Sans" pitchFamily="34" charset="-120"/>
                        </a:rPr>
                        <a:t>36</a:t>
                      </a: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6" name="Text 3"/>
          <p:cNvSpPr/>
          <p:nvPr/>
        </p:nvSpPr>
        <p:spPr>
          <a:xfrm>
            <a:off x="6223000" y="1803400"/>
            <a:ext cx="531088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A23"/>
                </a:solidFill>
                <a:latin typeface="Space Grotesk" pitchFamily="34" charset="0"/>
                <a:ea typeface="Space Grotesk" pitchFamily="34" charset="-122"/>
                <a:cs typeface="Space Grotesk" pitchFamily="34" charset="-120"/>
              </a:rPr>
              <a:t>Release 2 → Sprint 2</a:t>
            </a:r>
            <a:endParaRPr lang="en-US" sz="16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235700" y="2136142"/>
          <a:ext cx="5143500" cy="3027680"/>
        </p:xfrm>
        <a:graphic>
          <a:graphicData uri="http://schemas.openxmlformats.org/drawingml/2006/table">
            <a:tbl>
              <a:tblPr/>
              <a:tblGrid>
                <a:gridCol w="771525"/>
                <a:gridCol w="3446145"/>
                <a:gridCol w="925830"/>
              </a:tblGrid>
              <a:tr h="378460">
                <a:tc>
                  <a:txBody>
                    <a:bodyPr/>
                    <a:lstStyle/>
                    <a:p>
                      <a:pPr indent="0" marL="0">
                        <a:lnSpc>
                          <a:spcPts val="1680"/>
                        </a:lnSpc>
                        <a:buNone/>
                      </a:pPr>
                      <a:r>
                        <a:rPr lang="en-US" sz="1200" b="1" dirty="0">
                          <a:solidFill>
                            <a:srgbClr val="161A23"/>
                          </a:solidFill>
                          <a:latin typeface="DM Sans" pitchFamily="34" charset="0"/>
                          <a:ea typeface="DM Sans" pitchFamily="34" charset="-122"/>
                          <a:cs typeface="DM Sans" pitchFamily="34" charset="-120"/>
                        </a:rPr>
                        <a:t>ID</a:t>
                      </a: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B6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6B4B0"/>
                      </a:solidFill>
                      <a:prstDash val="solid"/>
                      <a:round/>
                      <a:headEnd type="none" w="med" len="med"/>
                      <a:tailEnd type="none" w="med" len="med"/>
                    </a:lnB>
                    <a:solidFill>
                      <a:srgbClr val="E4E1DC"/>
                    </a:solidFill>
                  </a:tcPr>
                </a:tc>
                <a:tc>
                  <a:txBody>
                    <a:bodyPr/>
                    <a:lstStyle/>
                    <a:p>
                      <a:pPr indent="0" marL="0">
                        <a:lnSpc>
                          <a:spcPts val="1680"/>
                        </a:lnSpc>
                        <a:buNone/>
                      </a:pPr>
                      <a:r>
                        <a:rPr lang="en-US" sz="1200" b="1" dirty="0">
                          <a:solidFill>
                            <a:srgbClr val="161A23"/>
                          </a:solidFill>
                          <a:latin typeface="DM Sans" pitchFamily="34" charset="0"/>
                          <a:ea typeface="DM Sans" pitchFamily="34" charset="-122"/>
                          <a:cs typeface="DM Sans" pitchFamily="34" charset="-120"/>
                        </a:rPr>
                        <a:t>Backlog item</a:t>
                      </a:r>
                      <a:endParaRPr lang="en-US" sz="1200" dirty="0">
                        <a:latin typeface="DM Sans" charset="0"/>
                        <a:ea typeface="DM Sans" charset="0"/>
                        <a:cs typeface="DM Sans" charset="0"/>
                      </a:endParaRPr>
                    </a:p>
                  </a:txBody>
                  <a:tcPr marL="114300" marR="114300" marT="76200" marB="76200" anchor="t">
                    <a:lnL w="12700" cap="flat" cmpd="sng" algn="ctr">
                      <a:solidFill>
                        <a:srgbClr val="B6B4B0"/>
                      </a:solidFill>
                      <a:prstDash val="solid"/>
                      <a:round/>
                      <a:headEnd type="none" w="med" len="med"/>
                      <a:tailEnd type="none" w="med" len="med"/>
                    </a:lnL>
                    <a:lnR w="12700" cap="flat" cmpd="sng" algn="ctr">
                      <a:solidFill>
                        <a:srgbClr val="B6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6B4B0"/>
                      </a:solidFill>
                      <a:prstDash val="solid"/>
                      <a:round/>
                      <a:headEnd type="none" w="med" len="med"/>
                      <a:tailEnd type="none" w="med" len="med"/>
                    </a:lnB>
                    <a:solidFill>
                      <a:srgbClr val="E4E1DC"/>
                    </a:solidFill>
                  </a:tcPr>
                </a:tc>
                <a:tc>
                  <a:txBody>
                    <a:bodyPr/>
                    <a:lstStyle/>
                    <a:p>
                      <a:pPr algn="r" indent="0" marL="0">
                        <a:lnSpc>
                          <a:spcPts val="1680"/>
                        </a:lnSpc>
                        <a:buNone/>
                      </a:pPr>
                      <a:r>
                        <a:rPr lang="en-US" sz="1200" b="1" dirty="0">
                          <a:solidFill>
                            <a:srgbClr val="161A23"/>
                          </a:solidFill>
                          <a:latin typeface="DM Sans" pitchFamily="34" charset="0"/>
                          <a:ea typeface="DM Sans" pitchFamily="34" charset="-122"/>
                          <a:cs typeface="DM Sans" pitchFamily="34" charset="-120"/>
                        </a:rPr>
                        <a:t>Points</a:t>
                      </a:r>
                      <a:endParaRPr lang="en-US" sz="1200" dirty="0">
                        <a:latin typeface="DM Sans" charset="0"/>
                        <a:ea typeface="DM Sans" charset="0"/>
                        <a:cs typeface="DM Sans" charset="0"/>
                      </a:endParaRPr>
                    </a:p>
                  </a:txBody>
                  <a:tcPr marL="114300" marR="114300" marT="76200" marB="76200" anchor="t">
                    <a:lnL w="12700" cap="flat" cmpd="sng" algn="ctr">
                      <a:solidFill>
                        <a:srgbClr val="B6B4B0"/>
                      </a:solidFill>
                      <a:prstDash val="solid"/>
                      <a:round/>
                      <a:headEnd type="none" w="med" len="med"/>
                      <a:tailEnd type="none" w="med" len="med"/>
                    </a:lnL>
                    <a:lnR w="12700" cap="flat" cmpd="sng" algn="ctr">
                      <a:solidFill>
                        <a:srgbClr val="B6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6B4B0"/>
                      </a:solidFill>
                      <a:prstDash val="solid"/>
                      <a:round/>
                      <a:headEnd type="none" w="med" len="med"/>
                      <a:tailEnd type="none" w="med" len="med"/>
                    </a:lnB>
                    <a:solidFill>
                      <a:srgbClr val="E4E1DC"/>
                    </a:solidFill>
                  </a:tcPr>
                </a:tc>
              </a:tr>
              <a:tr h="378460">
                <a:tc>
                  <a:txBody>
                    <a:bodyPr/>
                    <a:lstStyle/>
                    <a:p>
                      <a:pPr indent="0" marL="0">
                        <a:lnSpc>
                          <a:spcPts val="1680"/>
                        </a:lnSpc>
                        <a:buNone/>
                      </a:pPr>
                      <a:r>
                        <a:rPr lang="en-US" sz="1200" dirty="0">
                          <a:solidFill>
                            <a:srgbClr val="4A4F5C"/>
                          </a:solidFill>
                          <a:latin typeface="DM Sans" pitchFamily="34" charset="0"/>
                          <a:ea typeface="DM Sans" pitchFamily="34" charset="-122"/>
                          <a:cs typeface="DM Sans" pitchFamily="34" charset="-120"/>
                        </a:rPr>
                        <a:t>PBI-7</a:t>
                      </a: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6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Auto-release stake on a missed deadline</a:t>
                      </a: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6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680"/>
                        </a:lnSpc>
                        <a:buNone/>
                      </a:pPr>
                      <a:r>
                        <a:rPr lang="en-US" sz="1200" dirty="0">
                          <a:solidFill>
                            <a:srgbClr val="161A23"/>
                          </a:solidFill>
                          <a:latin typeface="DM Sans" pitchFamily="34" charset="0"/>
                          <a:ea typeface="DM Sans" pitchFamily="34" charset="-122"/>
                          <a:cs typeface="DM Sans" pitchFamily="34" charset="-120"/>
                        </a:rPr>
                        <a:t>13</a:t>
                      </a: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6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78460">
                <a:tc>
                  <a:txBody>
                    <a:bodyPr/>
                    <a:lstStyle/>
                    <a:p>
                      <a:pPr indent="0" marL="0">
                        <a:lnSpc>
                          <a:spcPts val="1680"/>
                        </a:lnSpc>
                        <a:buNone/>
                      </a:pPr>
                      <a:r>
                        <a:rPr lang="en-US" sz="1200" dirty="0">
                          <a:solidFill>
                            <a:srgbClr val="4A4F5C"/>
                          </a:solidFill>
                          <a:latin typeface="DM Sans" pitchFamily="34" charset="0"/>
                          <a:ea typeface="DM Sans" pitchFamily="34" charset="-122"/>
                          <a:cs typeface="DM Sans" pitchFamily="34" charset="-120"/>
                        </a:rPr>
                        <a:t>PBI-8</a:t>
                      </a: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Show released stakes in the feed</a:t>
                      </a:r>
                      <a:endParaRPr lang="en-US" sz="1200" dirty="0">
                        <a:latin typeface="DM Sans" charset="0"/>
                        <a:ea typeface="DM Sans" charset="0"/>
                        <a:cs typeface="DM Sans" charset="0"/>
                      </a:endParaRPr>
                    </a:p>
                  </a:txBody>
                  <a:tcPr marL="114300" marR="114300" marT="76200" marB="762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algn="r" indent="0" marL="0">
                        <a:lnSpc>
                          <a:spcPts val="1680"/>
                        </a:lnSpc>
                        <a:buNone/>
                      </a:pPr>
                      <a:r>
                        <a:rPr lang="en-US" sz="1200" dirty="0">
                          <a:solidFill>
                            <a:srgbClr val="161A23"/>
                          </a:solidFill>
                          <a:latin typeface="DM Sans" pitchFamily="34" charset="0"/>
                          <a:ea typeface="DM Sans" pitchFamily="34" charset="-122"/>
                          <a:cs typeface="DM Sans" pitchFamily="34" charset="-120"/>
                        </a:rPr>
                        <a:t>3</a:t>
                      </a:r>
                      <a:endParaRPr lang="en-US" sz="1200" dirty="0">
                        <a:latin typeface="DM Sans" charset="0"/>
                        <a:ea typeface="DM Sans" charset="0"/>
                        <a:cs typeface="DM Sans" charset="0"/>
                      </a:endParaRPr>
                    </a:p>
                  </a:txBody>
                  <a:tcPr marL="114300" marR="114300" marT="76200" marB="762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r>
              <a:tr h="378460">
                <a:tc>
                  <a:txBody>
                    <a:bodyPr/>
                    <a:lstStyle/>
                    <a:p>
                      <a:pPr indent="0" marL="0">
                        <a:lnSpc>
                          <a:spcPts val="1680"/>
                        </a:lnSpc>
                        <a:buNone/>
                      </a:pPr>
                      <a:r>
                        <a:rPr lang="en-US" sz="1200" dirty="0">
                          <a:solidFill>
                            <a:srgbClr val="4A4F5C"/>
                          </a:solidFill>
                          <a:latin typeface="DM Sans" pitchFamily="34" charset="0"/>
                          <a:ea typeface="DM Sans" pitchFamily="34" charset="-122"/>
                          <a:cs typeface="DM Sans" pitchFamily="34" charset="-120"/>
                        </a:rPr>
                        <a:t>PBI-9</a:t>
                      </a: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Report a photo</a:t>
                      </a: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680"/>
                        </a:lnSpc>
                        <a:buNone/>
                      </a:pPr>
                      <a:r>
                        <a:rPr lang="en-US" sz="1200" dirty="0">
                          <a:solidFill>
                            <a:srgbClr val="161A23"/>
                          </a:solidFill>
                          <a:latin typeface="DM Sans" pitchFamily="34" charset="0"/>
                          <a:ea typeface="DM Sans" pitchFamily="34" charset="-122"/>
                          <a:cs typeface="DM Sans" pitchFamily="34" charset="-120"/>
                        </a:rPr>
                        <a:t>3</a:t>
                      </a: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78460">
                <a:tc>
                  <a:txBody>
                    <a:bodyPr/>
                    <a:lstStyle/>
                    <a:p>
                      <a:pPr indent="0" marL="0">
                        <a:lnSpc>
                          <a:spcPts val="1680"/>
                        </a:lnSpc>
                        <a:buNone/>
                      </a:pPr>
                      <a:r>
                        <a:rPr lang="en-US" sz="1200" dirty="0">
                          <a:solidFill>
                            <a:srgbClr val="4A4F5C"/>
                          </a:solidFill>
                          <a:latin typeface="DM Sans" pitchFamily="34" charset="0"/>
                          <a:ea typeface="DM Sans" pitchFamily="34" charset="-122"/>
                          <a:cs typeface="DM Sans" pitchFamily="34" charset="-120"/>
                        </a:rPr>
                        <a:t>PBI-10</a:t>
                      </a: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Admin review: remove photo, ban user</a:t>
                      </a:r>
                      <a:endParaRPr lang="en-US" sz="1200" dirty="0">
                        <a:latin typeface="DM Sans" charset="0"/>
                        <a:ea typeface="DM Sans" charset="0"/>
                        <a:cs typeface="DM Sans" charset="0"/>
                      </a:endParaRPr>
                    </a:p>
                  </a:txBody>
                  <a:tcPr marL="114300" marR="114300" marT="76200" marB="762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algn="r" indent="0" marL="0">
                        <a:lnSpc>
                          <a:spcPts val="1680"/>
                        </a:lnSpc>
                        <a:buNone/>
                      </a:pPr>
                      <a:r>
                        <a:rPr lang="en-US" sz="1200" dirty="0">
                          <a:solidFill>
                            <a:srgbClr val="161A23"/>
                          </a:solidFill>
                          <a:latin typeface="DM Sans" pitchFamily="34" charset="0"/>
                          <a:ea typeface="DM Sans" pitchFamily="34" charset="-122"/>
                          <a:cs typeface="DM Sans" pitchFamily="34" charset="-120"/>
                        </a:rPr>
                        <a:t>5</a:t>
                      </a:r>
                      <a:endParaRPr lang="en-US" sz="1200" dirty="0">
                        <a:latin typeface="DM Sans" charset="0"/>
                        <a:ea typeface="DM Sans" charset="0"/>
                        <a:cs typeface="DM Sans" charset="0"/>
                      </a:endParaRPr>
                    </a:p>
                  </a:txBody>
                  <a:tcPr marL="114300" marR="114300" marT="76200" marB="762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r>
              <a:tr h="378460">
                <a:tc>
                  <a:txBody>
                    <a:bodyPr/>
                    <a:lstStyle/>
                    <a:p>
                      <a:pPr indent="0" marL="0">
                        <a:lnSpc>
                          <a:spcPts val="1680"/>
                        </a:lnSpc>
                        <a:buNone/>
                      </a:pPr>
                      <a:r>
                        <a:rPr lang="en-US" sz="1200" dirty="0">
                          <a:solidFill>
                            <a:srgbClr val="4A4F5C"/>
                          </a:solidFill>
                          <a:latin typeface="DM Sans" pitchFamily="34" charset="0"/>
                          <a:ea typeface="DM Sans" pitchFamily="34" charset="-122"/>
                          <a:cs typeface="DM Sans" pitchFamily="34" charset="-120"/>
                        </a:rPr>
                        <a:t>PBI-11</a:t>
                      </a: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Deadline reminders</a:t>
                      </a: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680"/>
                        </a:lnSpc>
                        <a:buNone/>
                      </a:pPr>
                      <a:r>
                        <a:rPr lang="en-US" sz="1200" dirty="0">
                          <a:solidFill>
                            <a:srgbClr val="161A23"/>
                          </a:solidFill>
                          <a:latin typeface="DM Sans" pitchFamily="34" charset="0"/>
                          <a:ea typeface="DM Sans" pitchFamily="34" charset="-122"/>
                          <a:cs typeface="DM Sans" pitchFamily="34" charset="-120"/>
                        </a:rPr>
                        <a:t>5</a:t>
                      </a: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78460">
                <a:tc>
                  <a:txBody>
                    <a:bodyPr/>
                    <a:lstStyle/>
                    <a:p>
                      <a:pPr indent="0" marL="0">
                        <a:lnSpc>
                          <a:spcPts val="1680"/>
                        </a:lnSpc>
                        <a:buNone/>
                      </a:pPr>
                      <a:r>
                        <a:rPr lang="en-US" sz="1200" dirty="0">
                          <a:solidFill>
                            <a:srgbClr val="4A4F5C"/>
                          </a:solidFill>
                          <a:latin typeface="DM Sans" pitchFamily="34" charset="0"/>
                          <a:ea typeface="DM Sans" pitchFamily="34" charset="-122"/>
                          <a:cs typeface="DM Sans" pitchFamily="34" charset="-120"/>
                        </a:rPr>
                        <a:t>PBI-12</a:t>
                      </a: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Goal progress calendar on profile</a:t>
                      </a:r>
                      <a:endParaRPr lang="en-US" sz="1200" dirty="0">
                        <a:latin typeface="DM Sans" charset="0"/>
                        <a:ea typeface="DM Sans" charset="0"/>
                        <a:cs typeface="DM Sans" charset="0"/>
                      </a:endParaRPr>
                    </a:p>
                  </a:txBody>
                  <a:tcPr marL="114300" marR="114300" marT="76200" marB="762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algn="r" indent="0" marL="0">
                        <a:lnSpc>
                          <a:spcPts val="1680"/>
                        </a:lnSpc>
                        <a:buNone/>
                      </a:pPr>
                      <a:r>
                        <a:rPr lang="en-US" sz="1200" dirty="0">
                          <a:solidFill>
                            <a:srgbClr val="161A23"/>
                          </a:solidFill>
                          <a:latin typeface="DM Sans" pitchFamily="34" charset="0"/>
                          <a:ea typeface="DM Sans" pitchFamily="34" charset="-122"/>
                          <a:cs typeface="DM Sans" pitchFamily="34" charset="-120"/>
                        </a:rPr>
                        <a:t>8</a:t>
                      </a:r>
                      <a:endParaRPr lang="en-US" sz="1200" dirty="0">
                        <a:latin typeface="DM Sans" charset="0"/>
                        <a:ea typeface="DM Sans" charset="0"/>
                        <a:cs typeface="DM Sans" charset="0"/>
                      </a:endParaRPr>
                    </a:p>
                  </a:txBody>
                  <a:tcPr marL="114300" marR="114300" marT="76200" marB="762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r>
              <a:tr h="378460">
                <a:tc>
                  <a:txBody>
                    <a:bodyPr/>
                    <a:lstStyle/>
                    <a:p>
                      <a:pPr indent="0" marL="0">
                        <a:lnSpc>
                          <a:spcPts val="1680"/>
                        </a:lnSpc>
                        <a:buNone/>
                      </a:pP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Total</a:t>
                      </a: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680"/>
                        </a:lnSpc>
                        <a:buNone/>
                      </a:pPr>
                      <a:r>
                        <a:rPr lang="en-US" sz="1200" dirty="0">
                          <a:solidFill>
                            <a:srgbClr val="161A23"/>
                          </a:solidFill>
                          <a:latin typeface="DM Sans" pitchFamily="34" charset="0"/>
                          <a:ea typeface="DM Sans" pitchFamily="34" charset="-122"/>
                          <a:cs typeface="DM Sans" pitchFamily="34" charset="-120"/>
                        </a:rPr>
                        <a:t>37</a:t>
                      </a:r>
                      <a:endParaRPr lang="en-US" sz="1200" dirty="0">
                        <a:latin typeface="DM Sans" charset="0"/>
                        <a:ea typeface="DM Sans" charset="0"/>
                        <a:cs typeface="DM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8" name="Text 4"/>
          <p:cNvSpPr/>
          <p:nvPr/>
        </p:nvSpPr>
        <p:spPr>
          <a:xfrm>
            <a:off x="812800" y="5417821"/>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4F5C"/>
                </a:solidFill>
                <a:latin typeface="DM Sans" pitchFamily="34" charset="0"/>
                <a:ea typeface="DM Sans" pitchFamily="34" charset="-122"/>
                <a:cs typeface="DM Sans" pitchFamily="34" charset="-120"/>
              </a:rPr>
              <a:t>How we voted:</a:t>
            </a:r>
            <a:r>
              <a:rPr lang="en-US" sz="1300" dirty="0">
                <a:solidFill>
                  <a:srgbClr val="4A4F5C"/>
                </a:solidFill>
                <a:latin typeface="DM Sans" pitchFamily="34" charset="0"/>
                <a:ea typeface="DM Sans" pitchFamily="34" charset="-122"/>
                <a:cs typeface="DM Sans" pitchFamily="34" charset="-120"/>
              </a:rPr>
              <a:t> Fibonacci cards (1, 2, 3, 5, 8, 13), everyone reveals at once, highest and lowest explain, then re-vote until we agree.</a:t>
            </a:r>
            <a:endParaRPr lang="en-US" sz="1300" dirty="0"/>
          </a:p>
        </p:txBody>
      </p:sp>
      <p:sp>
        <p:nvSpPr>
          <p:cNvPr id="9" name="Text 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A"/>
                </a:solidFill>
                <a:latin typeface="DM Sans" pitchFamily="34" charset="0"/>
                <a:ea typeface="DM Sans" pitchFamily="34" charset="-122"/>
                <a:cs typeface="DM Sans" pitchFamily="34" charset="-120"/>
              </a:rPr>
              <a:t>Stake · Productivity Masters   11 / 15</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31E"/>
                </a:solidFill>
                <a:latin typeface="DM Sans" pitchFamily="34" charset="0"/>
                <a:ea typeface="DM Sans" pitchFamily="34" charset="-122"/>
                <a:cs typeface="DM Sans" pitchFamily="34" charset="-120"/>
              </a:rPr>
              <a:t>SPRINT 1 BACKLOG</a:t>
            </a:r>
            <a:endParaRPr lang="en-US" sz="1200" dirty="0"/>
          </a:p>
        </p:txBody>
      </p:sp>
      <p:sp>
        <p:nvSpPr>
          <p:cNvPr id="3" name="Text 1"/>
          <p:cNvSpPr/>
          <p:nvPr/>
        </p:nvSpPr>
        <p:spPr>
          <a:xfrm>
            <a:off x="812800" y="1102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1A23"/>
                </a:solidFill>
                <a:latin typeface="Space Grotesk" pitchFamily="34" charset="0"/>
                <a:ea typeface="Space Grotesk" pitchFamily="34" charset="-122"/>
                <a:cs typeface="Space Grotesk" pitchFamily="34" charset="-120"/>
              </a:rPr>
              <a:t>36 points, 64 planned hours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100"/>
          <a:ext cx="10553700" cy="3406140"/>
        </p:xfrm>
        <a:graphic>
          <a:graphicData uri="http://schemas.openxmlformats.org/drawingml/2006/table">
            <a:tbl>
              <a:tblPr/>
              <a:tblGrid>
                <a:gridCol w="1899666"/>
                <a:gridCol w="5910072"/>
                <a:gridCol w="1371981"/>
                <a:gridCol w="1371981"/>
              </a:tblGrid>
              <a:tr h="378460">
                <a:tc>
                  <a:txBody>
                    <a:bodyPr/>
                    <a:lstStyle/>
                    <a:p>
                      <a:pPr indent="0" marL="0">
                        <a:lnSpc>
                          <a:spcPts val="1680"/>
                        </a:lnSpc>
                        <a:buNone/>
                      </a:pPr>
                      <a:r>
                        <a:rPr lang="en-US" sz="1200" b="1" dirty="0">
                          <a:solidFill>
                            <a:srgbClr val="161A23"/>
                          </a:solidFill>
                          <a:latin typeface="DM Sans" pitchFamily="34" charset="0"/>
                          <a:ea typeface="DM Sans" pitchFamily="34" charset="-122"/>
                          <a:cs typeface="DM Sans" pitchFamily="34" charset="-120"/>
                        </a:rPr>
                        <a:t>Item</a:t>
                      </a:r>
                      <a:endParaRPr lang="en-US" sz="1200" dirty="0">
                        <a:latin typeface="DM Sans" charset="0"/>
                        <a:ea typeface="DM Sans" charset="0"/>
                        <a:cs typeface="DM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B6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6B4B0"/>
                      </a:solidFill>
                      <a:prstDash val="solid"/>
                      <a:round/>
                      <a:headEnd type="none" w="med" len="med"/>
                      <a:tailEnd type="none" w="med" len="med"/>
                    </a:lnB>
                    <a:solidFill>
                      <a:srgbClr val="E4E1DC"/>
                    </a:solidFill>
                  </a:tcPr>
                </a:tc>
                <a:tc>
                  <a:txBody>
                    <a:bodyPr/>
                    <a:lstStyle/>
                    <a:p>
                      <a:pPr indent="0" marL="0">
                        <a:lnSpc>
                          <a:spcPts val="1680"/>
                        </a:lnSpc>
                        <a:buNone/>
                      </a:pPr>
                      <a:r>
                        <a:rPr lang="en-US" sz="1200" b="1" dirty="0">
                          <a:solidFill>
                            <a:srgbClr val="161A23"/>
                          </a:solidFill>
                          <a:latin typeface="DM Sans" pitchFamily="34" charset="0"/>
                          <a:ea typeface="DM Sans" pitchFamily="34" charset="-122"/>
                          <a:cs typeface="DM Sans" pitchFamily="34" charset="-120"/>
                        </a:rPr>
                        <a:t>Tasks</a:t>
                      </a:r>
                      <a:endParaRPr lang="en-US" sz="1200" dirty="0">
                        <a:latin typeface="DM Sans" charset="0"/>
                        <a:ea typeface="DM Sans" charset="0"/>
                        <a:cs typeface="DM Sans" charset="0"/>
                      </a:endParaRPr>
                    </a:p>
                  </a:txBody>
                  <a:tcPr marL="127000" marR="127000" marT="76200" marB="76200" anchor="t">
                    <a:lnL w="12700" cap="flat" cmpd="sng" algn="ctr">
                      <a:solidFill>
                        <a:srgbClr val="B6B4B0"/>
                      </a:solidFill>
                      <a:prstDash val="solid"/>
                      <a:round/>
                      <a:headEnd type="none" w="med" len="med"/>
                      <a:tailEnd type="none" w="med" len="med"/>
                    </a:lnL>
                    <a:lnR w="12700" cap="flat" cmpd="sng" algn="ctr">
                      <a:solidFill>
                        <a:srgbClr val="B6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6B4B0"/>
                      </a:solidFill>
                      <a:prstDash val="solid"/>
                      <a:round/>
                      <a:headEnd type="none" w="med" len="med"/>
                      <a:tailEnd type="none" w="med" len="med"/>
                    </a:lnB>
                    <a:solidFill>
                      <a:srgbClr val="E4E1DC"/>
                    </a:solidFill>
                  </a:tcPr>
                </a:tc>
                <a:tc>
                  <a:txBody>
                    <a:bodyPr/>
                    <a:lstStyle/>
                    <a:p>
                      <a:pPr indent="0" marL="0">
                        <a:lnSpc>
                          <a:spcPts val="1680"/>
                        </a:lnSpc>
                        <a:buNone/>
                      </a:pPr>
                      <a:r>
                        <a:rPr lang="en-US" sz="1200" b="1" dirty="0">
                          <a:solidFill>
                            <a:srgbClr val="161A23"/>
                          </a:solidFill>
                          <a:latin typeface="DM Sans" pitchFamily="34" charset="0"/>
                          <a:ea typeface="DM Sans" pitchFamily="34" charset="-122"/>
                          <a:cs typeface="DM Sans" pitchFamily="34" charset="-120"/>
                        </a:rPr>
                        <a:t>Owner</a:t>
                      </a:r>
                      <a:endParaRPr lang="en-US" sz="1200" dirty="0">
                        <a:latin typeface="DM Sans" charset="0"/>
                        <a:ea typeface="DM Sans" charset="0"/>
                        <a:cs typeface="DM Sans" charset="0"/>
                      </a:endParaRPr>
                    </a:p>
                  </a:txBody>
                  <a:tcPr marL="127000" marR="127000" marT="76200" marB="76200" anchor="t">
                    <a:lnL w="12700" cap="flat" cmpd="sng" algn="ctr">
                      <a:solidFill>
                        <a:srgbClr val="B6B4B0"/>
                      </a:solidFill>
                      <a:prstDash val="solid"/>
                      <a:round/>
                      <a:headEnd type="none" w="med" len="med"/>
                      <a:tailEnd type="none" w="med" len="med"/>
                    </a:lnL>
                    <a:lnR w="12700" cap="flat" cmpd="sng" algn="ctr">
                      <a:solidFill>
                        <a:srgbClr val="B6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6B4B0"/>
                      </a:solidFill>
                      <a:prstDash val="solid"/>
                      <a:round/>
                      <a:headEnd type="none" w="med" len="med"/>
                      <a:tailEnd type="none" w="med" len="med"/>
                    </a:lnB>
                    <a:solidFill>
                      <a:srgbClr val="E4E1DC"/>
                    </a:solidFill>
                  </a:tcPr>
                </a:tc>
                <a:tc>
                  <a:txBody>
                    <a:bodyPr/>
                    <a:lstStyle/>
                    <a:p>
                      <a:pPr algn="r" indent="0" marL="0">
                        <a:lnSpc>
                          <a:spcPts val="1680"/>
                        </a:lnSpc>
                        <a:buNone/>
                      </a:pPr>
                      <a:r>
                        <a:rPr lang="en-US" sz="1200" b="1" dirty="0">
                          <a:solidFill>
                            <a:srgbClr val="161A23"/>
                          </a:solidFill>
                          <a:latin typeface="DM Sans" pitchFamily="34" charset="0"/>
                          <a:ea typeface="DM Sans" pitchFamily="34" charset="-122"/>
                          <a:cs typeface="DM Sans" pitchFamily="34" charset="-120"/>
                        </a:rPr>
                        <a:t>Hours</a:t>
                      </a:r>
                      <a:endParaRPr lang="en-US" sz="1200" dirty="0">
                        <a:latin typeface="DM Sans" charset="0"/>
                        <a:ea typeface="DM Sans" charset="0"/>
                        <a:cs typeface="DM Sans" charset="0"/>
                      </a:endParaRPr>
                    </a:p>
                  </a:txBody>
                  <a:tcPr marL="127000" marR="127000" marT="76200" marB="76200" anchor="t">
                    <a:lnL w="12700" cap="flat" cmpd="sng" algn="ctr">
                      <a:solidFill>
                        <a:srgbClr val="B6B4B0"/>
                      </a:solidFill>
                      <a:prstDash val="solid"/>
                      <a:round/>
                      <a:headEnd type="none" w="med" len="med"/>
                      <a:tailEnd type="none" w="med" len="med"/>
                    </a:lnL>
                    <a:lnR w="12700" cap="flat" cmpd="sng" algn="ctr">
                      <a:solidFill>
                        <a:srgbClr val="B6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6B4B0"/>
                      </a:solidFill>
                      <a:prstDash val="solid"/>
                      <a:round/>
                      <a:headEnd type="none" w="med" len="med"/>
                      <a:tailEnd type="none" w="med" len="med"/>
                    </a:lnB>
                    <a:solidFill>
                      <a:srgbClr val="E4E1DC"/>
                    </a:solidFill>
                  </a:tcPr>
                </a:tc>
              </a:tr>
              <a:tr h="378460">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Setup</a:t>
                      </a:r>
                      <a:endParaRPr lang="en-US" sz="1200" dirty="0">
                        <a:latin typeface="DM Sans" charset="0"/>
                        <a:ea typeface="DM Sans" charset="0"/>
                        <a:cs typeface="DM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6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4A4F5C"/>
                          </a:solidFill>
                          <a:latin typeface="DM Sans" pitchFamily="34" charset="0"/>
                          <a:ea typeface="DM Sans" pitchFamily="34" charset="-122"/>
                          <a:cs typeface="DM Sans" pitchFamily="34" charset="-120"/>
                        </a:rPr>
                        <a:t>Repo, PERN scaffold, database schema, dev environment</a:t>
                      </a:r>
                      <a:endParaRPr lang="en-US" sz="1200" dirty="0">
                        <a:latin typeface="DM Sans" charset="0"/>
                        <a:ea typeface="DM Sans" charset="0"/>
                        <a:cs typeface="DM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6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Miguel</a:t>
                      </a:r>
                      <a:endParaRPr lang="en-US" sz="1200" dirty="0">
                        <a:latin typeface="DM Sans" charset="0"/>
                        <a:ea typeface="DM Sans" charset="0"/>
                        <a:cs typeface="DM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6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680"/>
                        </a:lnSpc>
                        <a:buNone/>
                      </a:pPr>
                      <a:r>
                        <a:rPr lang="en-US" sz="1200" dirty="0">
                          <a:solidFill>
                            <a:srgbClr val="161A23"/>
                          </a:solidFill>
                          <a:latin typeface="DM Sans" pitchFamily="34" charset="0"/>
                          <a:ea typeface="DM Sans" pitchFamily="34" charset="-122"/>
                          <a:cs typeface="DM Sans" pitchFamily="34" charset="-120"/>
                        </a:rPr>
                        <a:t>6</a:t>
                      </a:r>
                      <a:endParaRPr lang="en-US" sz="1200" dirty="0">
                        <a:latin typeface="DM Sans" charset="0"/>
                        <a:ea typeface="DM Sans" charset="0"/>
                        <a:cs typeface="DM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6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78460">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PBI-1 Auth</a:t>
                      </a:r>
                      <a:endParaRPr lang="en-US" sz="1200" dirty="0">
                        <a:latin typeface="DM Sans" charset="0"/>
                        <a:ea typeface="DM Sans" charset="0"/>
                        <a:cs typeface="DM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indent="0" marL="0">
                        <a:lnSpc>
                          <a:spcPts val="1680"/>
                        </a:lnSpc>
                        <a:buNone/>
                      </a:pPr>
                      <a:r>
                        <a:rPr lang="en-US" sz="1200" dirty="0">
                          <a:solidFill>
                            <a:srgbClr val="4A4F5C"/>
                          </a:solidFill>
                          <a:latin typeface="DM Sans" pitchFamily="34" charset="0"/>
                          <a:ea typeface="DM Sans" pitchFamily="34" charset="-122"/>
                          <a:cs typeface="DM Sans" pitchFamily="34" charset="-120"/>
                        </a:rPr>
                        <a:t>Sign-up/login API, bcrypt hashing, sessions, login UI</a:t>
                      </a:r>
                      <a:endParaRPr lang="en-US" sz="1200" dirty="0">
                        <a:latin typeface="DM Sans" charset="0"/>
                        <a:ea typeface="DM Sans" charset="0"/>
                        <a:cs typeface="DM Sans" charset="0"/>
                      </a:endParaRPr>
                    </a:p>
                  </a:txBody>
                  <a:tcPr marL="127000" marR="127000" marT="76200" marB="762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Connor</a:t>
                      </a:r>
                      <a:endParaRPr lang="en-US" sz="1200" dirty="0">
                        <a:latin typeface="DM Sans" charset="0"/>
                        <a:ea typeface="DM Sans" charset="0"/>
                        <a:cs typeface="DM Sans" charset="0"/>
                      </a:endParaRPr>
                    </a:p>
                  </a:txBody>
                  <a:tcPr marL="127000" marR="127000" marT="76200" marB="762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algn="r" indent="0" marL="0">
                        <a:lnSpc>
                          <a:spcPts val="1680"/>
                        </a:lnSpc>
                        <a:buNone/>
                      </a:pPr>
                      <a:r>
                        <a:rPr lang="en-US" sz="1200" dirty="0">
                          <a:solidFill>
                            <a:srgbClr val="161A23"/>
                          </a:solidFill>
                          <a:latin typeface="DM Sans" pitchFamily="34" charset="0"/>
                          <a:ea typeface="DM Sans" pitchFamily="34" charset="-122"/>
                          <a:cs typeface="DM Sans" pitchFamily="34" charset="-120"/>
                        </a:rPr>
                        <a:t>10</a:t>
                      </a:r>
                      <a:endParaRPr lang="en-US" sz="1200" dirty="0">
                        <a:latin typeface="DM Sans" charset="0"/>
                        <a:ea typeface="DM Sans" charset="0"/>
                        <a:cs typeface="DM Sans" charset="0"/>
                      </a:endParaRPr>
                    </a:p>
                  </a:txBody>
                  <a:tcPr marL="127000" marR="127000" marT="76200" marB="762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r>
              <a:tr h="378460">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PBI-2 Goals</a:t>
                      </a:r>
                      <a:endParaRPr lang="en-US" sz="1200" dirty="0">
                        <a:latin typeface="DM Sans" charset="0"/>
                        <a:ea typeface="DM Sans" charset="0"/>
                        <a:cs typeface="DM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4A4F5C"/>
                          </a:solidFill>
                          <a:latin typeface="DM Sans" pitchFamily="34" charset="0"/>
                          <a:ea typeface="DM Sans" pitchFamily="34" charset="-122"/>
                          <a:cs typeface="DM Sans" pitchFamily="34" charset="-120"/>
                        </a:rPr>
                        <a:t>Goals table + API, create-goal form</a:t>
                      </a:r>
                      <a:endParaRPr lang="en-US" sz="1200" dirty="0">
                        <a:latin typeface="DM Sans" charset="0"/>
                        <a:ea typeface="DM Sans" charset="0"/>
                        <a:cs typeface="DM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Ronin</a:t>
                      </a:r>
                      <a:endParaRPr lang="en-US" sz="1200" dirty="0">
                        <a:latin typeface="DM Sans" charset="0"/>
                        <a:ea typeface="DM Sans" charset="0"/>
                        <a:cs typeface="DM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680"/>
                        </a:lnSpc>
                        <a:buNone/>
                      </a:pPr>
                      <a:r>
                        <a:rPr lang="en-US" sz="1200" dirty="0">
                          <a:solidFill>
                            <a:srgbClr val="161A23"/>
                          </a:solidFill>
                          <a:latin typeface="DM Sans" pitchFamily="34" charset="0"/>
                          <a:ea typeface="DM Sans" pitchFamily="34" charset="-122"/>
                          <a:cs typeface="DM Sans" pitchFamily="34" charset="-120"/>
                        </a:rPr>
                        <a:t>8</a:t>
                      </a:r>
                      <a:endParaRPr lang="en-US" sz="1200" dirty="0">
                        <a:latin typeface="DM Sans" charset="0"/>
                        <a:ea typeface="DM Sans" charset="0"/>
                        <a:cs typeface="DM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78460">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PBI-3 Stake</a:t>
                      </a:r>
                      <a:endParaRPr lang="en-US" sz="1200" dirty="0">
                        <a:latin typeface="DM Sans" charset="0"/>
                        <a:ea typeface="DM Sans" charset="0"/>
                        <a:cs typeface="DM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indent="0" marL="0">
                        <a:lnSpc>
                          <a:spcPts val="1680"/>
                        </a:lnSpc>
                        <a:buNone/>
                      </a:pPr>
                      <a:r>
                        <a:rPr lang="en-US" sz="1200" dirty="0">
                          <a:solidFill>
                            <a:srgbClr val="4A4F5C"/>
                          </a:solidFill>
                          <a:latin typeface="DM Sans" pitchFamily="34" charset="0"/>
                          <a:ea typeface="DM Sans" pitchFamily="34" charset="-122"/>
                          <a:cs typeface="DM Sans" pitchFamily="34" charset="-120"/>
                        </a:rPr>
                        <a:t>Multer upload, private storage, file validation</a:t>
                      </a:r>
                      <a:endParaRPr lang="en-US" sz="1200" dirty="0">
                        <a:latin typeface="DM Sans" charset="0"/>
                        <a:ea typeface="DM Sans" charset="0"/>
                        <a:cs typeface="DM Sans" charset="0"/>
                      </a:endParaRPr>
                    </a:p>
                  </a:txBody>
                  <a:tcPr marL="127000" marR="127000" marT="76200" marB="762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Miguel</a:t>
                      </a:r>
                      <a:endParaRPr lang="en-US" sz="1200" dirty="0">
                        <a:latin typeface="DM Sans" charset="0"/>
                        <a:ea typeface="DM Sans" charset="0"/>
                        <a:cs typeface="DM Sans" charset="0"/>
                      </a:endParaRPr>
                    </a:p>
                  </a:txBody>
                  <a:tcPr marL="127000" marR="127000" marT="76200" marB="762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algn="r" indent="0" marL="0">
                        <a:lnSpc>
                          <a:spcPts val="1680"/>
                        </a:lnSpc>
                        <a:buNone/>
                      </a:pPr>
                      <a:r>
                        <a:rPr lang="en-US" sz="1200" dirty="0">
                          <a:solidFill>
                            <a:srgbClr val="161A23"/>
                          </a:solidFill>
                          <a:latin typeface="DM Sans" pitchFamily="34" charset="0"/>
                          <a:ea typeface="DM Sans" pitchFamily="34" charset="-122"/>
                          <a:cs typeface="DM Sans" pitchFamily="34" charset="-120"/>
                        </a:rPr>
                        <a:t>12</a:t>
                      </a:r>
                      <a:endParaRPr lang="en-US" sz="1200" dirty="0">
                        <a:latin typeface="DM Sans" charset="0"/>
                        <a:ea typeface="DM Sans" charset="0"/>
                        <a:cs typeface="DM Sans" charset="0"/>
                      </a:endParaRPr>
                    </a:p>
                  </a:txBody>
                  <a:tcPr marL="127000" marR="127000" marT="76200" marB="762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r>
              <a:tr h="378460">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PBI-4 Check-in</a:t>
                      </a:r>
                      <a:endParaRPr lang="en-US" sz="1200" dirty="0">
                        <a:latin typeface="DM Sans" charset="0"/>
                        <a:ea typeface="DM Sans" charset="0"/>
                        <a:cs typeface="DM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4A4F5C"/>
                          </a:solidFill>
                          <a:latin typeface="DM Sans" pitchFamily="34" charset="0"/>
                          <a:ea typeface="DM Sans" pitchFamily="34" charset="-122"/>
                          <a:cs typeface="DM Sans" pitchFamily="34" charset="-120"/>
                        </a:rPr>
                        <a:t>Check-in API tied to goal window, upload UI</a:t>
                      </a:r>
                      <a:endParaRPr lang="en-US" sz="1200" dirty="0">
                        <a:latin typeface="DM Sans" charset="0"/>
                        <a:ea typeface="DM Sans" charset="0"/>
                        <a:cs typeface="DM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Ronin</a:t>
                      </a:r>
                      <a:endParaRPr lang="en-US" sz="1200" dirty="0">
                        <a:latin typeface="DM Sans" charset="0"/>
                        <a:ea typeface="DM Sans" charset="0"/>
                        <a:cs typeface="DM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680"/>
                        </a:lnSpc>
                        <a:buNone/>
                      </a:pPr>
                      <a:r>
                        <a:rPr lang="en-US" sz="1200" dirty="0">
                          <a:solidFill>
                            <a:srgbClr val="161A23"/>
                          </a:solidFill>
                          <a:latin typeface="DM Sans" pitchFamily="34" charset="0"/>
                          <a:ea typeface="DM Sans" pitchFamily="34" charset="-122"/>
                          <a:cs typeface="DM Sans" pitchFamily="34" charset="-120"/>
                        </a:rPr>
                        <a:t>8</a:t>
                      </a:r>
                      <a:endParaRPr lang="en-US" sz="1200" dirty="0">
                        <a:latin typeface="DM Sans" charset="0"/>
                        <a:ea typeface="DM Sans" charset="0"/>
                        <a:cs typeface="DM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78460">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PBI-5 Friends</a:t>
                      </a:r>
                      <a:endParaRPr lang="en-US" sz="1200" dirty="0">
                        <a:latin typeface="DM Sans" charset="0"/>
                        <a:ea typeface="DM Sans" charset="0"/>
                        <a:cs typeface="DM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indent="0" marL="0">
                        <a:lnSpc>
                          <a:spcPts val="1680"/>
                        </a:lnSpc>
                        <a:buNone/>
                      </a:pPr>
                      <a:r>
                        <a:rPr lang="en-US" sz="1200" dirty="0">
                          <a:solidFill>
                            <a:srgbClr val="4A4F5C"/>
                          </a:solidFill>
                          <a:latin typeface="DM Sans" pitchFamily="34" charset="0"/>
                          <a:ea typeface="DM Sans" pitchFamily="34" charset="-122"/>
                          <a:cs typeface="DM Sans" pitchFamily="34" charset="-120"/>
                        </a:rPr>
                        <a:t>Request/accept API, friends list UI</a:t>
                      </a:r>
                      <a:endParaRPr lang="en-US" sz="1200" dirty="0">
                        <a:latin typeface="DM Sans" charset="0"/>
                        <a:ea typeface="DM Sans" charset="0"/>
                        <a:cs typeface="DM Sans" charset="0"/>
                      </a:endParaRPr>
                    </a:p>
                  </a:txBody>
                  <a:tcPr marL="127000" marR="127000" marT="76200" marB="762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Connor</a:t>
                      </a:r>
                      <a:endParaRPr lang="en-US" sz="1200" dirty="0">
                        <a:latin typeface="DM Sans" charset="0"/>
                        <a:ea typeface="DM Sans" charset="0"/>
                        <a:cs typeface="DM Sans" charset="0"/>
                      </a:endParaRPr>
                    </a:p>
                  </a:txBody>
                  <a:tcPr marL="127000" marR="127000" marT="76200" marB="762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c>
                  <a:txBody>
                    <a:bodyPr/>
                    <a:lstStyle/>
                    <a:p>
                      <a:pPr algn="r" indent="0" marL="0">
                        <a:lnSpc>
                          <a:spcPts val="1680"/>
                        </a:lnSpc>
                        <a:buNone/>
                      </a:pPr>
                      <a:r>
                        <a:rPr lang="en-US" sz="1200" dirty="0">
                          <a:solidFill>
                            <a:srgbClr val="161A23"/>
                          </a:solidFill>
                          <a:latin typeface="DM Sans" pitchFamily="34" charset="0"/>
                          <a:ea typeface="DM Sans" pitchFamily="34" charset="-122"/>
                          <a:cs typeface="DM Sans" pitchFamily="34" charset="-120"/>
                        </a:rPr>
                        <a:t>8</a:t>
                      </a:r>
                      <a:endParaRPr lang="en-US" sz="1200" dirty="0">
                        <a:latin typeface="DM Sans" charset="0"/>
                        <a:ea typeface="DM Sans" charset="0"/>
                        <a:cs typeface="DM Sans" charset="0"/>
                      </a:endParaRPr>
                    </a:p>
                  </a:txBody>
                  <a:tcPr marL="127000" marR="127000" marT="76200" marB="76200" anchor="t">
                    <a:lnL w="12700" cap="flat" cmpd="sng" algn="ctr">
                      <a:solidFill>
                        <a:srgbClr val="BFBAB2"/>
                      </a:solidFill>
                      <a:prstDash val="solid"/>
                      <a:round/>
                      <a:headEnd type="none" w="med" len="med"/>
                      <a:tailEnd type="none" w="med" len="med"/>
                    </a:lnL>
                    <a:lnR w="12700" cap="flat" cmpd="sng" algn="ctr">
                      <a:solidFill>
                        <a:srgbClr val="BFBAB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FBAB2"/>
                      </a:solidFill>
                      <a:prstDash val="solid"/>
                      <a:round/>
                      <a:headEnd type="none" w="med" len="med"/>
                      <a:tailEnd type="none" w="med" len="med"/>
                    </a:lnB>
                    <a:solidFill>
                      <a:srgbClr val="EFE9DF"/>
                    </a:solidFill>
                  </a:tcPr>
                </a:tc>
              </a:tr>
              <a:tr h="378460">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PBI-6 Feed</a:t>
                      </a:r>
                      <a:endParaRPr lang="en-US" sz="1200" dirty="0">
                        <a:latin typeface="DM Sans" charset="0"/>
                        <a:ea typeface="DM Sans" charset="0"/>
                        <a:cs typeface="DM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4A4F5C"/>
                          </a:solidFill>
                          <a:latin typeface="DM Sans" pitchFamily="34" charset="0"/>
                          <a:ea typeface="DM Sans" pitchFamily="34" charset="-122"/>
                          <a:cs typeface="DM Sans" pitchFamily="34" charset="-120"/>
                        </a:rPr>
                        <a:t>Paginated feed query, feed page</a:t>
                      </a:r>
                      <a:endParaRPr lang="en-US" sz="1200" dirty="0">
                        <a:latin typeface="DM Sans" charset="0"/>
                        <a:ea typeface="DM Sans" charset="0"/>
                        <a:cs typeface="DM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Miguel</a:t>
                      </a:r>
                      <a:endParaRPr lang="en-US" sz="1200" dirty="0">
                        <a:latin typeface="DM Sans" charset="0"/>
                        <a:ea typeface="DM Sans" charset="0"/>
                        <a:cs typeface="DM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680"/>
                        </a:lnSpc>
                        <a:buNone/>
                      </a:pPr>
                      <a:r>
                        <a:rPr lang="en-US" sz="1200" dirty="0">
                          <a:solidFill>
                            <a:srgbClr val="161A23"/>
                          </a:solidFill>
                          <a:latin typeface="DM Sans" pitchFamily="34" charset="0"/>
                          <a:ea typeface="DM Sans" pitchFamily="34" charset="-122"/>
                          <a:cs typeface="DM Sans" pitchFamily="34" charset="-120"/>
                        </a:rPr>
                        <a:t>12</a:t>
                      </a:r>
                      <a:endParaRPr lang="en-US" sz="1200" dirty="0">
                        <a:latin typeface="DM Sans" charset="0"/>
                        <a:ea typeface="DM Sans" charset="0"/>
                        <a:cs typeface="DM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FBAB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78460">
                <a:tc>
                  <a:txBody>
                    <a:bodyPr/>
                    <a:lstStyle/>
                    <a:p>
                      <a:pPr indent="0" marL="0">
                        <a:lnSpc>
                          <a:spcPts val="1680"/>
                        </a:lnSpc>
                        <a:buNone/>
                      </a:pPr>
                      <a:endParaRPr lang="en-US" sz="1200" dirty="0">
                        <a:latin typeface="DM Sans" charset="0"/>
                        <a:ea typeface="DM Sans" charset="0"/>
                        <a:cs typeface="DM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61A23"/>
                          </a:solidFill>
                          <a:latin typeface="DM Sans" pitchFamily="34" charset="0"/>
                          <a:ea typeface="DM Sans" pitchFamily="34" charset="-122"/>
                          <a:cs typeface="DM Sans" pitchFamily="34" charset="-120"/>
                        </a:rPr>
                        <a:t>Total planned</a:t>
                      </a:r>
                      <a:endParaRPr lang="en-US" sz="1200" dirty="0">
                        <a:latin typeface="DM Sans" charset="0"/>
                        <a:ea typeface="DM Sans" charset="0"/>
                        <a:cs typeface="DM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endParaRPr lang="en-US" sz="1200" dirty="0">
                        <a:latin typeface="DM Sans" charset="0"/>
                        <a:ea typeface="DM Sans" charset="0"/>
                        <a:cs typeface="DM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680"/>
                        </a:lnSpc>
                        <a:buNone/>
                      </a:pPr>
                      <a:r>
                        <a:rPr lang="en-US" sz="1200" dirty="0">
                          <a:solidFill>
                            <a:srgbClr val="161A23"/>
                          </a:solidFill>
                          <a:latin typeface="DM Sans" pitchFamily="34" charset="0"/>
                          <a:ea typeface="DM Sans" pitchFamily="34" charset="-122"/>
                          <a:cs typeface="DM Sans" pitchFamily="34" charset="-120"/>
                        </a:rPr>
                        <a:t>64</a:t>
                      </a:r>
                      <a:endParaRPr lang="en-US" sz="1200" dirty="0">
                        <a:latin typeface="DM Sans" charset="0"/>
                        <a:ea typeface="DM Sans" charset="0"/>
                        <a:cs typeface="DM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5476242"/>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C"/>
                </a:solidFill>
                <a:latin typeface="DM Sans" pitchFamily="34" charset="0"/>
                <a:ea typeface="DM Sans" pitchFamily="34" charset="-122"/>
                <a:cs typeface="DM Sans" pitchFamily="34" charset="-120"/>
              </a:rPr>
              <a:t>Sprint goal: a user can sign up, create a goal, stake a photo, check in, and see friends' check-ins.</a:t>
            </a:r>
            <a:endParaRPr lang="en-US" sz="1300" dirty="0"/>
          </a:p>
        </p:txBody>
      </p:sp>
      <p:sp>
        <p:nvSpPr>
          <p:cNvPr id="6" name="Text 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A"/>
                </a:solidFill>
                <a:latin typeface="DM Sans" pitchFamily="34" charset="0"/>
                <a:ea typeface="DM Sans" pitchFamily="34" charset="-122"/>
                <a:cs typeface="DM Sans" pitchFamily="34" charset="-120"/>
              </a:rPr>
              <a:t>Stake · Productivity Masters   12 / 15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5192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A4D"/>
                </a:solidFill>
                <a:latin typeface="DM Sans" pitchFamily="34" charset="0"/>
                <a:ea typeface="DM Sans" pitchFamily="34" charset="-122"/>
                <a:cs typeface="DM Sans" pitchFamily="34" charset="-120"/>
              </a:rPr>
              <a:t>VELOCITY &amp; CAPACITY</a:t>
            </a:r>
            <a:endParaRPr lang="en-US" sz="1200" dirty="0"/>
          </a:p>
        </p:txBody>
      </p:sp>
      <p:sp>
        <p:nvSpPr>
          <p:cNvPr id="3" name="Text 1"/>
          <p:cNvSpPr/>
          <p:nvPr/>
        </p:nvSpPr>
        <p:spPr>
          <a:xfrm>
            <a:off x="812800" y="1102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3EFE8"/>
                </a:solidFill>
                <a:latin typeface="Space Grotesk" pitchFamily="34" charset="0"/>
                <a:ea typeface="Space Grotesk" pitchFamily="34" charset="-122"/>
                <a:cs typeface="Space Grotesk" pitchFamily="34" charset="-120"/>
              </a:rPr>
              <a:t>Sprint 1 fits inside what we can do</a:t>
            </a:r>
            <a:endParaRPr lang="en-US" sz="3200" dirty="0"/>
          </a:p>
        </p:txBody>
      </p:sp>
      <p:sp>
        <p:nvSpPr>
          <p:cNvPr id="4" name="Shape 2"/>
          <p:cNvSpPr/>
          <p:nvPr/>
        </p:nvSpPr>
        <p:spPr>
          <a:xfrm>
            <a:off x="812800" y="1803400"/>
            <a:ext cx="3386653" cy="4038600"/>
          </a:xfrm>
          <a:prstGeom prst="roundRect">
            <a:avLst>
              <a:gd name="adj" fmla="val 4500"/>
            </a:avLst>
          </a:prstGeom>
          <a:solidFill>
            <a:srgbClr val="212735"/>
          </a:solidFill>
          <a:ln/>
        </p:spPr>
      </p:sp>
      <p:sp>
        <p:nvSpPr>
          <p:cNvPr id="5" name="Text 3"/>
          <p:cNvSpPr/>
          <p:nvPr/>
        </p:nvSpPr>
        <p:spPr>
          <a:xfrm>
            <a:off x="1066800" y="2057400"/>
            <a:ext cx="2965013"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A4D"/>
                </a:solidFill>
                <a:latin typeface="DM Sans" pitchFamily="34" charset="0"/>
                <a:ea typeface="DM Sans" pitchFamily="34" charset="-122"/>
                <a:cs typeface="DM Sans" pitchFamily="34" charset="-120"/>
              </a:rPr>
              <a:t>VELOCITY</a:t>
            </a:r>
            <a:endParaRPr lang="en-US" sz="1200" dirty="0"/>
          </a:p>
        </p:txBody>
      </p:sp>
      <p:sp>
        <p:nvSpPr>
          <p:cNvPr id="6" name="Text 4"/>
          <p:cNvSpPr/>
          <p:nvPr/>
        </p:nvSpPr>
        <p:spPr>
          <a:xfrm>
            <a:off x="1066800" y="2359664"/>
            <a:ext cx="2965013" cy="914400"/>
          </a:xfrm>
          <a:prstGeom prst="rect">
            <a:avLst/>
          </a:prstGeom>
          <a:noFill/>
          <a:ln/>
        </p:spPr>
        <p:txBody>
          <a:bodyPr wrap="square" lIns="0" tIns="0" rIns="0" bIns="0" rtlCol="0" anchor="t">
            <a:normAutofit/>
          </a:bodyPr>
          <a:lstStyle/>
          <a:p>
            <a:pPr algn="l" indent="0" marL="0">
              <a:lnSpc>
                <a:spcPts val="7000"/>
              </a:lnSpc>
              <a:buNone/>
            </a:pPr>
            <a:r>
              <a:rPr lang="en-US" sz="7000" b="1" dirty="0">
                <a:solidFill>
                  <a:srgbClr val="F3EFE8"/>
                </a:solidFill>
                <a:latin typeface="Space Grotesk" pitchFamily="34" charset="0"/>
                <a:ea typeface="Space Grotesk" pitchFamily="34" charset="-122"/>
                <a:cs typeface="Space Grotesk" pitchFamily="34" charset="-120"/>
              </a:rPr>
              <a:t>36.5</a:t>
            </a:r>
            <a:endParaRPr lang="en-US" sz="7000" dirty="0"/>
          </a:p>
        </p:txBody>
      </p:sp>
      <p:sp>
        <p:nvSpPr>
          <p:cNvPr id="7" name="Text 5"/>
          <p:cNvSpPr/>
          <p:nvPr/>
        </p:nvSpPr>
        <p:spPr>
          <a:xfrm>
            <a:off x="1066800" y="3337564"/>
            <a:ext cx="296501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3EFE8"/>
                </a:solidFill>
                <a:latin typeface="DM Sans" pitchFamily="34" charset="0"/>
                <a:ea typeface="DM Sans" pitchFamily="34" charset="-122"/>
                <a:cs typeface="DM Sans" pitchFamily="34" charset="-120"/>
              </a:rPr>
              <a:t>points per sprint</a:t>
            </a:r>
            <a:endParaRPr lang="en-US" sz="1500" dirty="0"/>
          </a:p>
        </p:txBody>
      </p:sp>
      <p:sp>
        <p:nvSpPr>
          <p:cNvPr id="8" name="Text 6"/>
          <p:cNvSpPr/>
          <p:nvPr/>
        </p:nvSpPr>
        <p:spPr>
          <a:xfrm>
            <a:off x="1066800" y="3693164"/>
            <a:ext cx="296501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BDC8"/>
                </a:solidFill>
                <a:latin typeface="DM Sans" pitchFamily="34" charset="0"/>
                <a:ea typeface="DM Sans" pitchFamily="34" charset="-122"/>
                <a:cs typeface="DM Sans" pitchFamily="34" charset="-120"/>
              </a:rPr>
              <a:t>73 total PBI points ÷ 2 sprints</a:t>
            </a:r>
            <a:endParaRPr lang="en-US" sz="1300" dirty="0"/>
          </a:p>
        </p:txBody>
      </p:sp>
      <p:sp>
        <p:nvSpPr>
          <p:cNvPr id="9" name="Shape 7"/>
          <p:cNvSpPr/>
          <p:nvPr/>
        </p:nvSpPr>
        <p:spPr>
          <a:xfrm>
            <a:off x="4402653" y="1803400"/>
            <a:ext cx="3386693" cy="4038600"/>
          </a:xfrm>
          <a:prstGeom prst="roundRect">
            <a:avLst>
              <a:gd name="adj" fmla="val 4500"/>
            </a:avLst>
          </a:prstGeom>
          <a:solidFill>
            <a:srgbClr val="212735"/>
          </a:solidFill>
          <a:ln/>
        </p:spPr>
      </p:sp>
      <p:sp>
        <p:nvSpPr>
          <p:cNvPr id="10" name="Text 8"/>
          <p:cNvSpPr/>
          <p:nvPr/>
        </p:nvSpPr>
        <p:spPr>
          <a:xfrm>
            <a:off x="4656653" y="2057400"/>
            <a:ext cx="296505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A4D"/>
                </a:solidFill>
                <a:latin typeface="DM Sans" pitchFamily="34" charset="0"/>
                <a:ea typeface="DM Sans" pitchFamily="34" charset="-122"/>
                <a:cs typeface="DM Sans" pitchFamily="34" charset="-120"/>
              </a:rPr>
              <a:t>CAPACITY</a:t>
            </a:r>
            <a:endParaRPr lang="en-US" sz="1200" dirty="0"/>
          </a:p>
        </p:txBody>
      </p:sp>
      <p:sp>
        <p:nvSpPr>
          <p:cNvPr id="11" name="Text 9"/>
          <p:cNvSpPr/>
          <p:nvPr/>
        </p:nvSpPr>
        <p:spPr>
          <a:xfrm>
            <a:off x="4656653" y="2359664"/>
            <a:ext cx="2965054" cy="914400"/>
          </a:xfrm>
          <a:prstGeom prst="rect">
            <a:avLst/>
          </a:prstGeom>
          <a:noFill/>
          <a:ln/>
        </p:spPr>
        <p:txBody>
          <a:bodyPr wrap="square" lIns="0" tIns="0" rIns="0" bIns="0" rtlCol="0" anchor="t">
            <a:normAutofit/>
          </a:bodyPr>
          <a:lstStyle/>
          <a:p>
            <a:pPr algn="l" indent="0" marL="0">
              <a:lnSpc>
                <a:spcPts val="7000"/>
              </a:lnSpc>
              <a:buNone/>
            </a:pPr>
            <a:r>
              <a:rPr lang="en-US" sz="7000" b="1" dirty="0">
                <a:solidFill>
                  <a:srgbClr val="F3EFE8"/>
                </a:solidFill>
                <a:latin typeface="Space Grotesk" pitchFamily="34" charset="0"/>
                <a:ea typeface="Space Grotesk" pitchFamily="34" charset="-122"/>
                <a:cs typeface="Space Grotesk" pitchFamily="34" charset="-120"/>
              </a:rPr>
              <a:t>72</a:t>
            </a:r>
            <a:endParaRPr lang="en-US" sz="7000" dirty="0"/>
          </a:p>
        </p:txBody>
      </p:sp>
      <p:sp>
        <p:nvSpPr>
          <p:cNvPr id="12" name="Text 10"/>
          <p:cNvSpPr/>
          <p:nvPr/>
        </p:nvSpPr>
        <p:spPr>
          <a:xfrm>
            <a:off x="4656653" y="3337564"/>
            <a:ext cx="296505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3EFE8"/>
                </a:solidFill>
                <a:latin typeface="DM Sans" pitchFamily="34" charset="0"/>
                <a:ea typeface="DM Sans" pitchFamily="34" charset="-122"/>
                <a:cs typeface="DM Sans" pitchFamily="34" charset="-120"/>
              </a:rPr>
              <a:t>hours per sprint</a:t>
            </a:r>
            <a:endParaRPr lang="en-US" sz="1500" dirty="0"/>
          </a:p>
        </p:txBody>
      </p:sp>
      <p:sp>
        <p:nvSpPr>
          <p:cNvPr id="13" name="Text 11"/>
          <p:cNvSpPr/>
          <p:nvPr/>
        </p:nvSpPr>
        <p:spPr>
          <a:xfrm>
            <a:off x="4656653" y="3693164"/>
            <a:ext cx="296505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BDC8"/>
                </a:solidFill>
                <a:latin typeface="DM Sans" pitchFamily="34" charset="0"/>
                <a:ea typeface="DM Sans" pitchFamily="34" charset="-122"/>
                <a:cs typeface="DM Sans" pitchFamily="34" charset="-120"/>
              </a:rPr>
              <a:t>3 members × 8 hrs/week × 3 weeks</a:t>
            </a:r>
            <a:endParaRPr lang="en-US" sz="1300" dirty="0"/>
          </a:p>
        </p:txBody>
      </p:sp>
      <p:sp>
        <p:nvSpPr>
          <p:cNvPr id="14" name="Shape 12"/>
          <p:cNvSpPr/>
          <p:nvPr/>
        </p:nvSpPr>
        <p:spPr>
          <a:xfrm>
            <a:off x="7992547" y="1803400"/>
            <a:ext cx="3386653" cy="4038600"/>
          </a:xfrm>
          <a:prstGeom prst="roundRect">
            <a:avLst>
              <a:gd name="adj" fmla="val 4500"/>
            </a:avLst>
          </a:prstGeom>
          <a:solidFill>
            <a:srgbClr val="212735"/>
          </a:solidFill>
          <a:ln/>
        </p:spPr>
      </p:sp>
      <p:sp>
        <p:nvSpPr>
          <p:cNvPr id="15" name="Text 13"/>
          <p:cNvSpPr/>
          <p:nvPr/>
        </p:nvSpPr>
        <p:spPr>
          <a:xfrm>
            <a:off x="8246547" y="2057400"/>
            <a:ext cx="2965013"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7A4D"/>
                </a:solidFill>
                <a:latin typeface="DM Sans" pitchFamily="34" charset="0"/>
                <a:ea typeface="DM Sans" pitchFamily="34" charset="-122"/>
                <a:cs typeface="DM Sans" pitchFamily="34" charset="-120"/>
              </a:rPr>
              <a:t>COMMITTED</a:t>
            </a:r>
            <a:endParaRPr lang="en-US" sz="1200" dirty="0"/>
          </a:p>
        </p:txBody>
      </p:sp>
      <p:sp>
        <p:nvSpPr>
          <p:cNvPr id="16" name="Text 14"/>
          <p:cNvSpPr/>
          <p:nvPr/>
        </p:nvSpPr>
        <p:spPr>
          <a:xfrm>
            <a:off x="8246547" y="2359664"/>
            <a:ext cx="2965013" cy="914400"/>
          </a:xfrm>
          <a:prstGeom prst="rect">
            <a:avLst/>
          </a:prstGeom>
          <a:noFill/>
          <a:ln/>
        </p:spPr>
        <p:txBody>
          <a:bodyPr wrap="square" lIns="0" tIns="0" rIns="0" bIns="0" rtlCol="0" anchor="t">
            <a:normAutofit/>
          </a:bodyPr>
          <a:lstStyle/>
          <a:p>
            <a:pPr algn="l" indent="0" marL="0">
              <a:lnSpc>
                <a:spcPts val="7000"/>
              </a:lnSpc>
              <a:buNone/>
            </a:pPr>
            <a:r>
              <a:rPr lang="en-US" sz="7000" b="1" dirty="0">
                <a:solidFill>
                  <a:srgbClr val="F3EFE8"/>
                </a:solidFill>
                <a:latin typeface="Space Grotesk" pitchFamily="34" charset="0"/>
                <a:ea typeface="Space Grotesk" pitchFamily="34" charset="-122"/>
                <a:cs typeface="Space Grotesk" pitchFamily="34" charset="-120"/>
              </a:rPr>
              <a:t>36</a:t>
            </a:r>
            <a:endParaRPr lang="en-US" sz="7000" dirty="0"/>
          </a:p>
        </p:txBody>
      </p:sp>
      <p:sp>
        <p:nvSpPr>
          <p:cNvPr id="17" name="Text 15"/>
          <p:cNvSpPr/>
          <p:nvPr/>
        </p:nvSpPr>
        <p:spPr>
          <a:xfrm>
            <a:off x="8246547" y="3337564"/>
            <a:ext cx="296501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3EFE8"/>
                </a:solidFill>
                <a:latin typeface="DM Sans" pitchFamily="34" charset="0"/>
                <a:ea typeface="DM Sans" pitchFamily="34" charset="-122"/>
                <a:cs typeface="DM Sans" pitchFamily="34" charset="-120"/>
              </a:rPr>
              <a:t>points · 64 hours</a:t>
            </a:r>
            <a:endParaRPr lang="en-US" sz="1500" dirty="0"/>
          </a:p>
        </p:txBody>
      </p:sp>
      <p:sp>
        <p:nvSpPr>
          <p:cNvPr id="18" name="Text 16"/>
          <p:cNvSpPr/>
          <p:nvPr/>
        </p:nvSpPr>
        <p:spPr>
          <a:xfrm>
            <a:off x="8246547" y="3693164"/>
            <a:ext cx="296501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BDC8"/>
                </a:solidFill>
                <a:latin typeface="DM Sans" pitchFamily="34" charset="0"/>
                <a:ea typeface="DM Sans" pitchFamily="34" charset="-122"/>
                <a:cs typeface="DM Sans" pitchFamily="34" charset="-120"/>
              </a:rPr>
              <a:t>Matches velocity, with an 8-hour buffer for bugs and review</a:t>
            </a:r>
            <a:endParaRPr lang="en-US" sz="1300" dirty="0"/>
          </a:p>
        </p:txBody>
      </p:sp>
      <p:sp>
        <p:nvSpPr>
          <p:cNvPr id="19" name="Text 17"/>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DC8"/>
                </a:solidFill>
                <a:latin typeface="DM Sans" pitchFamily="34" charset="0"/>
                <a:ea typeface="DM Sans" pitchFamily="34" charset="-122"/>
                <a:cs typeface="DM Sans" pitchFamily="34" charset="-120"/>
              </a:rPr>
              <a:t>Stake · Productivity Masters   13 / 15</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31E"/>
                </a:solidFill>
                <a:latin typeface="DM Sans" pitchFamily="34" charset="0"/>
                <a:ea typeface="DM Sans" pitchFamily="34" charset="-122"/>
                <a:cs typeface="DM Sans" pitchFamily="34" charset="-120"/>
              </a:rPr>
              <a:t>ISSUES &amp; NEXT STEPS</a:t>
            </a:r>
            <a:endParaRPr lang="en-US" sz="1200" dirty="0"/>
          </a:p>
        </p:txBody>
      </p:sp>
      <p:sp>
        <p:nvSpPr>
          <p:cNvPr id="3" name="Text 1"/>
          <p:cNvSpPr/>
          <p:nvPr/>
        </p:nvSpPr>
        <p:spPr>
          <a:xfrm>
            <a:off x="812800" y="1102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1A23"/>
                </a:solidFill>
                <a:latin typeface="Space Grotesk" pitchFamily="34" charset="0"/>
                <a:ea typeface="Space Grotesk" pitchFamily="34" charset="-122"/>
                <a:cs typeface="Space Grotesk" pitchFamily="34" charset="-120"/>
              </a:rPr>
              <a:t>Where we stand and what comes next</a:t>
            </a:r>
            <a:endParaRPr lang="en-US" sz="3200" dirty="0"/>
          </a:p>
        </p:txBody>
      </p:sp>
      <p:sp>
        <p:nvSpPr>
          <p:cNvPr id="4" name="Shape 2"/>
          <p:cNvSpPr/>
          <p:nvPr/>
        </p:nvSpPr>
        <p:spPr>
          <a:xfrm>
            <a:off x="815975" y="1806575"/>
            <a:ext cx="5175250" cy="4032250"/>
          </a:xfrm>
          <a:prstGeom prst="roundRect">
            <a:avLst>
              <a:gd name="adj" fmla="val 3071"/>
            </a:avLst>
          </a:prstGeom>
          <a:solidFill>
            <a:srgbClr val="FFFDFA"/>
          </a:solidFill>
          <a:ln w="6350">
            <a:solidFill>
              <a:srgbClr val="E2DBCF"/>
            </a:solidFill>
            <a:prstDash val="solid"/>
          </a:ln>
        </p:spPr>
      </p:sp>
      <p:sp>
        <p:nvSpPr>
          <p:cNvPr id="5" name="Text 3"/>
          <p:cNvSpPr/>
          <p:nvPr/>
        </p:nvSpPr>
        <p:spPr>
          <a:xfrm>
            <a:off x="1021080" y="2011679"/>
            <a:ext cx="490799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8431E"/>
                </a:solidFill>
                <a:latin typeface="Space Grotesk" pitchFamily="34" charset="0"/>
                <a:ea typeface="Space Grotesk" pitchFamily="34" charset="-122"/>
                <a:cs typeface="Space Grotesk" pitchFamily="34" charset="-120"/>
              </a:rPr>
              <a:t>Open issues</a:t>
            </a:r>
            <a:endParaRPr lang="en-US" sz="2000" dirty="0"/>
          </a:p>
        </p:txBody>
      </p:sp>
      <p:sp>
        <p:nvSpPr>
          <p:cNvPr id="6" name="Text 4"/>
          <p:cNvSpPr/>
          <p:nvPr/>
        </p:nvSpPr>
        <p:spPr>
          <a:xfrm>
            <a:off x="1105662" y="2392679"/>
            <a:ext cx="4815789" cy="10922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161A23"/>
                </a:solidFill>
                <a:latin typeface="DM Sans" pitchFamily="34" charset="0"/>
                <a:ea typeface="DM Sans" pitchFamily="34" charset="-122"/>
                <a:cs typeface="DM Sans" pitchFamily="34" charset="-120"/>
              </a:rPr>
              <a:t>Photo storage provider not yet chosen</a:t>
            </a:r>
            <a:endParaRPr lang="en-US" sz="1400" dirty="0"/>
          </a:p>
          <a:p>
            <a:pPr algn="l" marL="169418" indent="-169418">
              <a:lnSpc>
                <a:spcPts val="2100"/>
              </a:lnSpc>
              <a:buSzPct val="100000"/>
              <a:buChar char="•"/>
            </a:pPr>
            <a:r>
              <a:rPr lang="en-US" sz="1400" dirty="0">
                <a:solidFill>
                  <a:srgbClr val="161A23"/>
                </a:solidFill>
                <a:latin typeface="DM Sans" pitchFamily="34" charset="0"/>
                <a:ea typeface="DM Sans" pitchFamily="34" charset="-122"/>
                <a:cs typeface="DM Sans" pitchFamily="34" charset="-120"/>
              </a:rPr>
              <a:t>Grace period and late-upload rules not agreed</a:t>
            </a:r>
            <a:endParaRPr lang="en-US" sz="1400" dirty="0"/>
          </a:p>
          <a:p>
            <a:pPr algn="l" marL="169418" indent="-169418">
              <a:lnSpc>
                <a:spcPts val="2100"/>
              </a:lnSpc>
              <a:buSzPct val="100000"/>
              <a:buChar char="•"/>
            </a:pPr>
            <a:r>
              <a:rPr lang="en-US" sz="1400" dirty="0">
                <a:solidFill>
                  <a:srgbClr val="161A23"/>
                </a:solidFill>
                <a:latin typeface="DM Sans" pitchFamily="34" charset="0"/>
                <a:ea typeface="DM Sans" pitchFamily="34" charset="-122"/>
                <a:cs typeface="DM Sans" pitchFamily="34" charset="-120"/>
              </a:rPr>
              <a:t>Admin workload for reviewing every stake</a:t>
            </a:r>
            <a:endParaRPr lang="en-US" sz="1400" dirty="0"/>
          </a:p>
          <a:p>
            <a:pPr algn="l" marL="169418" indent="-169418">
              <a:lnSpc>
                <a:spcPts val="2100"/>
              </a:lnSpc>
              <a:buSzPct val="100000"/>
              <a:buChar char="•"/>
            </a:pPr>
            <a:r>
              <a:rPr lang="en-US" sz="1400" dirty="0">
                <a:solidFill>
                  <a:srgbClr val="161A23"/>
                </a:solidFill>
                <a:latin typeface="DM Sans" pitchFamily="34" charset="0"/>
                <a:ea typeface="DM Sans" pitchFamily="34" charset="-122"/>
                <a:cs typeface="DM Sans" pitchFamily="34" charset="-120"/>
              </a:rPr>
              <a:t>Estimates are first-pass; re-vote after Sprint 1</a:t>
            </a:r>
            <a:endParaRPr lang="en-US" sz="1400" dirty="0"/>
          </a:p>
        </p:txBody>
      </p:sp>
      <p:sp>
        <p:nvSpPr>
          <p:cNvPr id="7" name="Shape 5"/>
          <p:cNvSpPr/>
          <p:nvPr/>
        </p:nvSpPr>
        <p:spPr>
          <a:xfrm>
            <a:off x="6200775" y="1806575"/>
            <a:ext cx="5175250" cy="4032250"/>
          </a:xfrm>
          <a:prstGeom prst="roundRect">
            <a:avLst>
              <a:gd name="adj" fmla="val 3071"/>
            </a:avLst>
          </a:prstGeom>
          <a:solidFill>
            <a:srgbClr val="FFFDFA"/>
          </a:solidFill>
          <a:ln w="6350">
            <a:solidFill>
              <a:srgbClr val="E2DBCF"/>
            </a:solidFill>
            <a:prstDash val="solid"/>
          </a:ln>
        </p:spPr>
      </p:sp>
      <p:sp>
        <p:nvSpPr>
          <p:cNvPr id="8" name="Text 6"/>
          <p:cNvSpPr/>
          <p:nvPr/>
        </p:nvSpPr>
        <p:spPr>
          <a:xfrm>
            <a:off x="6405880" y="2011679"/>
            <a:ext cx="490799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B59C3"/>
                </a:solidFill>
                <a:latin typeface="Space Grotesk" pitchFamily="34" charset="0"/>
                <a:ea typeface="Space Grotesk" pitchFamily="34" charset="-122"/>
                <a:cs typeface="Space Grotesk" pitchFamily="34" charset="-120"/>
              </a:rPr>
              <a:t>Next steps</a:t>
            </a:r>
            <a:endParaRPr lang="en-US" sz="2000" dirty="0"/>
          </a:p>
        </p:txBody>
      </p:sp>
      <p:sp>
        <p:nvSpPr>
          <p:cNvPr id="9" name="Text 7"/>
          <p:cNvSpPr/>
          <p:nvPr/>
        </p:nvSpPr>
        <p:spPr>
          <a:xfrm>
            <a:off x="6490462" y="2392679"/>
            <a:ext cx="4815789" cy="13589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161A23"/>
                </a:solidFill>
                <a:latin typeface="DM Sans" pitchFamily="34" charset="0"/>
                <a:ea typeface="DM Sans" pitchFamily="34" charset="-122"/>
                <a:cs typeface="DM Sans" pitchFamily="34" charset="-120"/>
              </a:rPr>
              <a:t>Finalize Sprint 1 tasks in Jira</a:t>
            </a:r>
            <a:endParaRPr lang="en-US" sz="1400" dirty="0"/>
          </a:p>
          <a:p>
            <a:pPr algn="l" marL="169418" indent="-169418">
              <a:lnSpc>
                <a:spcPts val="2100"/>
              </a:lnSpc>
              <a:buSzPct val="100000"/>
              <a:buChar char="•"/>
            </a:pPr>
            <a:r>
              <a:rPr lang="en-US" sz="1400" dirty="0">
                <a:solidFill>
                  <a:srgbClr val="161A23"/>
                </a:solidFill>
                <a:latin typeface="DM Sans" pitchFamily="34" charset="0"/>
                <a:ea typeface="DM Sans" pitchFamily="34" charset="-122"/>
                <a:cs typeface="DM Sans" pitchFamily="34" charset="-120"/>
              </a:rPr>
              <a:t>Week 1: scaffold repo and database schema</a:t>
            </a:r>
            <a:endParaRPr lang="en-US" sz="1400" dirty="0"/>
          </a:p>
          <a:p>
            <a:pPr algn="l" marL="169418" indent="-169418">
              <a:lnSpc>
                <a:spcPts val="2100"/>
              </a:lnSpc>
              <a:buSzPct val="100000"/>
              <a:buChar char="•"/>
            </a:pPr>
            <a:r>
              <a:rPr lang="en-US" sz="1400" dirty="0">
                <a:solidFill>
                  <a:srgbClr val="161A23"/>
                </a:solidFill>
                <a:latin typeface="DM Sans" pitchFamily="34" charset="0"/>
                <a:ea typeface="DM Sans" pitchFamily="34" charset="-122"/>
                <a:cs typeface="DM Sans" pitchFamily="34" charset="-120"/>
              </a:rPr>
              <a:t>Sprint 1 demo: the core goal loop</a:t>
            </a:r>
            <a:endParaRPr lang="en-US" sz="1400" dirty="0"/>
          </a:p>
          <a:p>
            <a:pPr algn="l" marL="169418" indent="-169418">
              <a:lnSpc>
                <a:spcPts val="2100"/>
              </a:lnSpc>
              <a:buSzPct val="100000"/>
              <a:buChar char="•"/>
            </a:pPr>
            <a:r>
              <a:rPr lang="en-US" sz="1400" dirty="0">
                <a:solidFill>
                  <a:srgbClr val="161A23"/>
                </a:solidFill>
                <a:latin typeface="DM Sans" pitchFamily="34" charset="0"/>
                <a:ea typeface="DM Sans" pitchFamily="34" charset="-122"/>
                <a:cs typeface="DM Sans" pitchFamily="34" charset="-120"/>
              </a:rPr>
              <a:t>Sprint 2: auto-release, reports, admin review</a:t>
            </a:r>
            <a:endParaRPr lang="en-US" sz="1400" dirty="0"/>
          </a:p>
          <a:p>
            <a:pPr algn="l" marL="169418" indent="-169418">
              <a:lnSpc>
                <a:spcPts val="2100"/>
              </a:lnSpc>
              <a:buSzPct val="100000"/>
              <a:buChar char="•"/>
            </a:pPr>
            <a:r>
              <a:rPr lang="en-US" sz="1400" dirty="0">
                <a:solidFill>
                  <a:srgbClr val="161A23"/>
                </a:solidFill>
                <a:latin typeface="DM Sans" pitchFamily="34" charset="0"/>
                <a:ea typeface="DM Sans" pitchFamily="34" charset="-122"/>
                <a:cs typeface="DM Sans" pitchFamily="34" charset="-120"/>
              </a:rPr>
              <a:t>Later: goal reset, account management, history</a:t>
            </a:r>
            <a:endParaRPr lang="en-US" sz="1400" dirty="0"/>
          </a:p>
        </p:txBody>
      </p:sp>
      <p:sp>
        <p:nvSpPr>
          <p:cNvPr id="10" name="Text 8"/>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A"/>
                </a:solidFill>
                <a:latin typeface="DM Sans" pitchFamily="34" charset="0"/>
                <a:ea typeface="DM Sans" pitchFamily="34" charset="-122"/>
                <a:cs typeface="DM Sans" pitchFamily="34" charset="-120"/>
              </a:rPr>
              <a:t>Stake · Productivity Masters   14 / 15</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51922"/>
        </a:solidFill>
      </p:bgPr>
    </p:bg>
    <p:spTree>
      <p:nvGrpSpPr>
        <p:cNvPr id="1" name=""/>
        <p:cNvGrpSpPr/>
        <p:nvPr/>
      </p:nvGrpSpPr>
      <p:grpSpPr>
        <a:xfrm>
          <a:off x="0" y="0"/>
          <a:ext cx="0" cy="0"/>
          <a:chOff x="0" y="0"/>
          <a:chExt cx="0" cy="0"/>
        </a:xfrm>
      </p:grpSpPr>
      <p:sp>
        <p:nvSpPr>
          <p:cNvPr id="2" name="Text 0"/>
          <p:cNvSpPr/>
          <p:nvPr/>
        </p:nvSpPr>
        <p:spPr>
          <a:xfrm>
            <a:off x="812800" y="2123442"/>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3EFE8"/>
                </a:solidFill>
                <a:latin typeface="Space Grotesk" pitchFamily="34" charset="0"/>
                <a:ea typeface="Space Grotesk" pitchFamily="34" charset="-122"/>
                <a:cs typeface="Space Grotesk" pitchFamily="34" charset="-120"/>
              </a:rPr>
              <a:t>Put something</a:t>
            </a:r>
            <a:endParaRPr lang="en-US" sz="6000" dirty="0"/>
          </a:p>
          <a:p>
            <a:pPr algn="l" indent="0" marL="0">
              <a:lnSpc>
                <a:spcPts val="6300"/>
              </a:lnSpc>
              <a:buNone/>
            </a:pPr>
            <a:r>
              <a:rPr lang="en-US" sz="6000" b="1" dirty="0">
                <a:solidFill>
                  <a:srgbClr val="F3EFE8"/>
                </a:solidFill>
                <a:latin typeface="Space Grotesk" pitchFamily="34" charset="0"/>
                <a:ea typeface="Space Grotesk" pitchFamily="34" charset="-122"/>
                <a:cs typeface="Space Grotesk" pitchFamily="34" charset="-120"/>
              </a:rPr>
              <a:t>on the </a:t>
            </a:r>
            <a:r>
              <a:rPr lang="en-US" sz="6000" b="1" dirty="0">
                <a:solidFill>
                  <a:srgbClr val="FF7A4D"/>
                </a:solidFill>
                <a:latin typeface="Space Grotesk" pitchFamily="34" charset="0"/>
                <a:ea typeface="Space Grotesk" pitchFamily="34" charset="-122"/>
                <a:cs typeface="Space Grotesk" pitchFamily="34" charset="-120"/>
              </a:rPr>
              <a:t>line.</a:t>
            </a:r>
            <a:endParaRPr lang="en-US" sz="6000" dirty="0"/>
          </a:p>
        </p:txBody>
      </p:sp>
      <p:sp>
        <p:nvSpPr>
          <p:cNvPr id="3" name="Text 1"/>
          <p:cNvSpPr/>
          <p:nvPr/>
        </p:nvSpPr>
        <p:spPr>
          <a:xfrm>
            <a:off x="812800" y="3926842"/>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B9BDC8"/>
                </a:solidFill>
                <a:latin typeface="DM Sans" pitchFamily="34" charset="0"/>
                <a:ea typeface="DM Sans" pitchFamily="34" charset="-122"/>
                <a:cs typeface="DM Sans" pitchFamily="34" charset="-120"/>
              </a:rPr>
              <a:t>Thank you. Questions?</a:t>
            </a:r>
            <a:endParaRPr lang="en-US" sz="2000" dirty="0"/>
          </a:p>
        </p:txBody>
      </p:sp>
      <p:sp>
        <p:nvSpPr>
          <p:cNvPr id="4" name="Text 2"/>
          <p:cNvSpPr/>
          <p:nvPr/>
        </p:nvSpPr>
        <p:spPr>
          <a:xfrm>
            <a:off x="812800" y="4485642"/>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BDC8"/>
                </a:solidFill>
                <a:latin typeface="DM Sans" pitchFamily="34" charset="0"/>
                <a:ea typeface="DM Sans" pitchFamily="34" charset="-122"/>
                <a:cs typeface="DM Sans" pitchFamily="34" charset="-120"/>
              </a:rPr>
              <a:t>Ronin Mithaug · Connor Opdyke · Miguel Rosario  ·  github.com/miguelrosari0/SWEproj2026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Stake Sprint 0 Presentation</dc:title>
  <dc:subject>PptxGenJS Presentation</dc:subject>
  <dc:creator>PptxGenJS</dc:creator>
  <cp:lastModifiedBy>PptxGenJS</cp:lastModifiedBy>
  <cp:revision>1</cp:revision>
  <dcterms:created xsi:type="dcterms:W3CDTF">2026-09-29T23:02:02Z</dcterms:created>
  <dcterms:modified xsi:type="dcterms:W3CDTF">2026-09-29T23:02:02Z</dcterms:modified>
</cp:coreProperties>
</file>